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افتتاح والترحيب" id="{b31ce6c8-101b-b927-69e3-f601942b1a3d}">
          <p14:sldIdLst>
            <p14:sldId id="256"/>
            <p14:sldId id="257"/>
          </p14:sldIdLst>
        </p14:section>
        <p14:section name="الهوية والرؤية والأهداف" id="{fe464753-649a-78eb-e763-6accaf623c17}">
          <p14:sldIdLst>
            <p14:sldId id="258"/>
            <p14:sldId id="259"/>
            <p14:sldId id="260"/>
          </p14:sldIdLst>
        </p14:section>
        <p14:section name="المبادرات وفلسفة العمل والأقسام" id="{e2bb886d-dee8-8acf-b515-7e1984faf1bb}">
          <p14:sldIdLst>
            <p14:sldId id="261"/>
            <p14:sldId id="262"/>
            <p14:sldId id="263"/>
          </p14:sldIdLst>
        </p14:section>
        <p14:section name="التوسع والفئات المستهدفة" id="{f34477cb-87b2-1904-24c6-f66d66f56943}">
          <p14:sldIdLst>
            <p14:sldId id="264"/>
            <p14:sldId id="265"/>
          </p14:sldIdLst>
        </p14:section>
        <p14:section name="الحوكمة والتمويل" id="{1a4eee61-e1f6-d358-3efd-0b543742be41}">
          <p14:sldIdLst>
            <p14:sldId id="266"/>
            <p14:sldId id="267"/>
            <p14:sldId id="268"/>
          </p14:sldIdLst>
        </p14:section>
        <p14:section name="العضوية والأثر والختام" id="{0b7c2958-f4a2-4fb6-4302-b5f7dda88708}">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جمعية تكامل لبناء القيم والتنمية — الكتيب التعريفي الشامل للأعضاء الجدد. رؤية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الصور تعبيرية.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6156655" y="6355080"/>
            <a:ext cx="5486400" cy="274320"/>
          </a:xfrm>
          <a:prstGeom prst="rect">
            <a:avLst/>
          </a:prstGeom>
          <a:noFill/>
          <a:ln/>
        </p:spPr>
        <p:txBody>
          <a:bodyPr wrap="square" rtlCol="0" anchor="ctr"/>
          <a:lstStyle/>
          <a:p>
            <a:pPr algn="r" indent="0" marL="0">
              <a:buNone/>
            </a:pPr>
            <a:r>
              <a:rPr lang="ar-SA" altLang="en-US" sz="1000" dirty="0">
                <a:solidFill>
                  <a:schemeClr val="accent5"/>
                </a:solidFill>
              </a:rPr>
              <a:t>جمعية تكامل لبناء القيم والتنمية</a:t>
            </a:r>
            <a:endParaRPr lang="ar-SA" sz="1000" dirty="0"/>
          </a:p>
        </p:txBody>
      </p:sp>
      <p:sp>
        <p:nvSpPr>
          <p:cNvPr id="3" name="Text 1"/>
          <p:cNvSpPr/>
          <p:nvPr>
            <p:ph idx="101" type="body" hasCustomPrompt="1"/>
          </p:nvPr>
        </p:nvSpPr>
        <p:spPr>
          <a:xfrm>
            <a:off x="548640" y="365760"/>
            <a:ext cx="11094415" cy="365760"/>
          </a:xfrm>
          <a:prstGeom prst="rect">
            <a:avLst/>
          </a:prstGeom>
          <a:noFill/>
          <a:ln/>
        </p:spPr>
        <p:txBody>
          <a:bodyPr wrap="square" rtlCol="0"/>
          <a:lstStyle>
            <a:lvl1pPr rtl="1" algn="r" indent="0" marL="0">
              <a:buNone/>
              <a:defRPr lang="ar-SA" altLang="en-US" sz="1400" b="1" dirty="0">
                <a:solidFill>
                  <a:schemeClr val="accent1"/>
                </a:solidFill>
              </a:defRPr>
            </a:lvl1pPr>
          </a:lstStyle>
          <a:p>
            <a:pPr algn="r" indent="0" marL="0">
              <a:buNone/>
            </a:pPr>
            <a:endParaRPr lang="ar-SA" sz="1400" dirty="0"/>
          </a:p>
        </p:txBody>
      </p:sp>
      <p:sp>
        <p:nvSpPr>
          <p:cNvPr id="4" name="Text 1"/>
          <p:cNvSpPr/>
          <p:nvPr>
            <p:ph idx="102" type="title" hasCustomPrompt="1"/>
          </p:nvPr>
        </p:nvSpPr>
        <p:spPr>
          <a:xfrm>
            <a:off x="548640" y="731520"/>
            <a:ext cx="11094415" cy="777240"/>
          </a:xfrm>
          <a:prstGeom prst="rect">
            <a:avLst/>
          </a:prstGeom>
          <a:noFill/>
          <a:ln/>
        </p:spPr>
        <p:txBody>
          <a:bodyPr wrap="square" rtlCol="0"/>
          <a:lstStyle>
            <a:lvl1pPr rtl="1" algn="r" indent="0" marL="0">
              <a:buNone/>
              <a:defRPr lang="ar-SA" altLang="en-US" sz="3400" b="1" dirty="0">
                <a:solidFill>
                  <a:schemeClr val="tx1"/>
                </a:solidFill>
              </a:defRPr>
            </a:lvl1pPr>
          </a:lstStyle>
          <a:p>
            <a:pPr algn="r" indent="0" marL="0">
              <a:buNone/>
            </a:pPr>
            <a:endParaRPr lang="ar-SA" sz="3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156655" y="6355080"/>
            <a:ext cx="5486400" cy="274320"/>
          </a:xfrm>
          <a:prstGeom prst="rect">
            <a:avLst/>
          </a:prstGeom>
          <a:noFill/>
          <a:ln/>
        </p:spPr>
        <p:txBody>
          <a:bodyPr wrap="square" rtlCol="0" anchor="ctr"/>
          <a:lstStyle/>
          <a:p>
            <a:pPr algn="r" indent="0" marL="0">
              <a:buNone/>
            </a:pPr>
            <a:r>
              <a:rPr lang="ar-SA" altLang="en-US" sz="1000" dirty="0">
                <a:solidFill>
                  <a:schemeClr val="accent6"/>
                </a:solidFill>
              </a:rPr>
              <a:t>جمعية تكامل لبناء القيم والتنمية</a:t>
            </a:r>
            <a:endParaRPr lang="ar-SA" sz="1000" dirty="0"/>
          </a:p>
        </p:txBody>
      </p:sp>
      <p:sp>
        <p:nvSpPr>
          <p:cNvPr id="3" name="Text 1"/>
          <p:cNvSpPr/>
          <p:nvPr>
            <p:ph idx="101" type="body" hasCustomPrompt="1"/>
          </p:nvPr>
        </p:nvSpPr>
        <p:spPr>
          <a:xfrm>
            <a:off x="548640" y="365760"/>
            <a:ext cx="11094415" cy="365760"/>
          </a:xfrm>
          <a:prstGeom prst="rect">
            <a:avLst/>
          </a:prstGeom>
          <a:noFill/>
          <a:ln/>
        </p:spPr>
        <p:txBody>
          <a:bodyPr wrap="square" rtlCol="0"/>
          <a:lstStyle>
            <a:lvl1pPr rtl="1" algn="r" indent="0" marL="0">
              <a:buNone/>
              <a:defRPr lang="ar-SA" altLang="en-US" sz="1400" b="1" dirty="0">
                <a:solidFill>
                  <a:schemeClr val="accent3"/>
                </a:solidFill>
              </a:defRPr>
            </a:lvl1pPr>
          </a:lstStyle>
          <a:p>
            <a:pPr algn="r" indent="0" marL="0">
              <a:buNone/>
            </a:pPr>
            <a:endParaRPr lang="ar-SA" sz="1400" dirty="0"/>
          </a:p>
        </p:txBody>
      </p:sp>
      <p:sp>
        <p:nvSpPr>
          <p:cNvPr id="4" name="Text 1"/>
          <p:cNvSpPr/>
          <p:nvPr>
            <p:ph idx="102" type="title" hasCustomPrompt="1"/>
          </p:nvPr>
        </p:nvSpPr>
        <p:spPr>
          <a:xfrm>
            <a:off x="548640" y="731520"/>
            <a:ext cx="11094415" cy="777240"/>
          </a:xfrm>
          <a:prstGeom prst="rect">
            <a:avLst/>
          </a:prstGeom>
          <a:noFill/>
          <a:ln/>
        </p:spPr>
        <p:txBody>
          <a:bodyPr wrap="square" rtlCol="0"/>
          <a:lstStyle>
            <a:lvl1pPr rtl="1" algn="r" indent="0" marL="0">
              <a:buNone/>
              <a:defRPr lang="ar-SA" altLang="en-US" sz="3400" b="1" dirty="0">
                <a:solidFill>
                  <a:schemeClr val="bg1"/>
                </a:solidFill>
              </a:defRPr>
            </a:lvl1pPr>
          </a:lstStyle>
          <a:p>
            <a:pPr algn="r" indent="0" marL="0">
              <a:buNone/>
            </a:pPr>
            <a:endParaRPr lang="ar-SA" sz="3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 photo" descr="/home/user/-/site/assets/img/istanbul.jpg">    </p:cNvPr>
          <p:cNvPicPr>
            <a:picLocks noChangeAspect="1"/>
          </p:cNvPicPr>
          <p:nvPr/>
        </p:nvPicPr>
        <p:blipFill>
          <a:blip r:embed="rId1">
            <a:alphaModFix amt="55000"/>
          </a:blip>
          <a:srcRect l="0" r="0" t="0" b="0"/>
          <a:stretch/>
        </p:blipFill>
        <p:spPr>
          <a:xfrm>
            <a:off x="0" y="0"/>
            <a:ext cx="12191695" cy="6858000"/>
          </a:xfrm>
          <a:prstGeom prst="rect">
            <a:avLst/>
          </a:prstGeom>
        </p:spPr>
      </p:pic>
      <p:sp>
        <p:nvSpPr>
          <p:cNvPr id="3" name="bg scrim"/>
          <p:cNvSpPr/>
          <p:nvPr/>
        </p:nvSpPr>
        <p:spPr>
          <a:xfrm>
            <a:off x="3840480" y="0"/>
            <a:ext cx="8351215" cy="6858000"/>
          </a:xfrm>
          <a:prstGeom prst="rect">
            <a:avLst/>
          </a:prstGeom>
          <a:solidFill>
            <a:schemeClr val="tx2">
              <a:alpha val="88000"/>
            </a:schemeClr>
          </a:solidFill>
          <a:ln/>
        </p:spPr>
      </p:sp>
      <p:pic>
        <p:nvPicPr>
          <p:cNvPr id="4" name="logo" descr="/home/user/-/site/assets/logo.png">    </p:cNvPr>
          <p:cNvPicPr>
            <a:picLocks noChangeAspect="1"/>
          </p:cNvPicPr>
          <p:nvPr/>
        </p:nvPicPr>
        <p:blipFill>
          <a:blip r:embed="rId2"/>
          <a:stretch>
            <a:fillRect/>
          </a:stretch>
        </p:blipFill>
        <p:spPr>
          <a:xfrm>
            <a:off x="10271455" y="822960"/>
            <a:ext cx="1371600" cy="1335024"/>
          </a:xfrm>
          <a:prstGeom prst="rect">
            <a:avLst/>
          </a:prstGeom>
        </p:spPr>
      </p:pic>
      <p:sp>
        <p:nvSpPr>
          <p:cNvPr id="5" name="Text 1"/>
          <p:cNvSpPr txBox="1"/>
          <p:nvPr/>
        </p:nvSpPr>
        <p:spPr>
          <a:xfrm>
            <a:off x="4206240" y="2423160"/>
            <a:ext cx="7436815" cy="457200"/>
          </a:xfrm>
          <a:prstGeom prst="rect">
            <a:avLst/>
          </a:prstGeom>
          <a:noFill/>
          <a:ln/>
        </p:spPr>
        <p:txBody>
          <a:bodyPr wrap="square" lIns="0" tIns="0" rIns="0" bIns="0" rtlCol="0" anchor="ctr"/>
          <a:lstStyle/>
          <a:p>
            <a:pPr rtl="1" algn="r" indent="0" marL="0">
              <a:buNone/>
            </a:pPr>
            <a:r>
              <a:rPr lang="ar-SA" altLang="en-US" sz="1800" b="1" dirty="0">
                <a:solidFill>
                  <a:schemeClr val="accent3"/>
                </a:solidFill>
              </a:rPr>
              <a:t>الكتيب التعريفي الشامل للأعضاء الجدد</a:t>
            </a:r>
            <a:endParaRPr lang="ar-SA" sz="1800" dirty="0"/>
          </a:p>
        </p:txBody>
      </p:sp>
      <p:sp>
        <p:nvSpPr>
          <p:cNvPr id="6" name="Text 2"/>
          <p:cNvSpPr txBox="1"/>
          <p:nvPr/>
        </p:nvSpPr>
        <p:spPr>
          <a:xfrm>
            <a:off x="4206240" y="2880360"/>
            <a:ext cx="7436815" cy="1737360"/>
          </a:xfrm>
          <a:prstGeom prst="rect">
            <a:avLst/>
          </a:prstGeom>
          <a:noFill/>
          <a:ln/>
        </p:spPr>
        <p:txBody>
          <a:bodyPr wrap="square" lIns="0" tIns="0" rIns="0" bIns="0" rtlCol="0" anchor="t"/>
          <a:lstStyle/>
          <a:p>
            <a:pPr rtl="1" algn="r" indent="0" marL="0">
              <a:buNone/>
            </a:pPr>
            <a:r>
              <a:rPr lang="ar-SA" altLang="en-US" sz="5000" b="1" dirty="0">
                <a:solidFill>
                  <a:schemeClr val="bg1"/>
                </a:solidFill>
              </a:rPr>
              <a:t>جمعية تكامل لبناء القيم والتنمية</a:t>
            </a:r>
            <a:endParaRPr lang="ar-SA" sz="5000" dirty="0"/>
          </a:p>
        </p:txBody>
      </p:sp>
      <p:sp>
        <p:nvSpPr>
          <p:cNvPr id="7" name="Text 3"/>
          <p:cNvSpPr txBox="1"/>
          <p:nvPr/>
        </p:nvSpPr>
        <p:spPr>
          <a:xfrm>
            <a:off x="4206240" y="4709160"/>
            <a:ext cx="7436815" cy="457200"/>
          </a:xfrm>
          <a:prstGeom prst="rect">
            <a:avLst/>
          </a:prstGeom>
          <a:noFill/>
          <a:ln/>
        </p:spPr>
        <p:txBody>
          <a:bodyPr wrap="square" lIns="0" tIns="0" rIns="0" bIns="0" rtlCol="0" anchor="ctr"/>
          <a:lstStyle/>
          <a:p>
            <a:pPr rtl="1" algn="r" indent="0" marL="0">
              <a:buNone/>
            </a:pPr>
            <a:r>
              <a:rPr lang="ar-SA" altLang="en-US" sz="2200" b="1" dirty="0">
                <a:solidFill>
                  <a:schemeClr val="accent4"/>
                </a:solidFill>
              </a:rPr>
              <a:t>رؤية 2035 · مؤسسة رائدة عالمياً في بناء القيم</a:t>
            </a:r>
            <a:endParaRPr lang="ar-SA" sz="2200" dirty="0"/>
          </a:p>
        </p:txBody>
      </p:sp>
      <p:sp>
        <p:nvSpPr>
          <p:cNvPr id="8" name="Text 4"/>
          <p:cNvSpPr txBox="1"/>
          <p:nvPr/>
        </p:nvSpPr>
        <p:spPr>
          <a:xfrm>
            <a:off x="4206240" y="5212080"/>
            <a:ext cx="7436815" cy="411480"/>
          </a:xfrm>
          <a:prstGeom prst="rect">
            <a:avLst/>
          </a:prstGeom>
          <a:noFill/>
          <a:ln/>
        </p:spPr>
        <p:txBody>
          <a:bodyPr wrap="square" lIns="0" tIns="0" rIns="0" bIns="0" rtlCol="0" anchor="ctr"/>
          <a:lstStyle/>
          <a:p>
            <a:pPr rtl="1" algn="r" indent="0" marL="0">
              <a:buNone/>
            </a:pPr>
            <a:r>
              <a:rPr lang="ar-SA" altLang="en-US" sz="1600" dirty="0">
                <a:solidFill>
                  <a:schemeClr val="accent6"/>
                </a:solidFill>
              </a:rPr>
              <a:t>الجمهورية التركية – إسطنبول</a:t>
            </a:r>
            <a:endParaRPr lang="ar-SA"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decel="100000" fill="hold"/>
                                        <p:tgtEl>
                                          <p:spTgt spid="4"/>
                                        </p:tgtEl>
                                        <p:attrNameLst>
                                          <p:attrName>ppt_y</p:attrName>
                                        </p:attrNameLst>
                                      </p:cBhvr>
                                      <p:tavLst>
                                        <p:tav tm="0">
                                          <p:val>
                                            <p:strVal val="#ppt_y+.06"/>
                                          </p:val>
                                        </p:tav>
                                        <p:tav tm="100000">
                                          <p:val>
                                            <p:strVal val="#ppt_y"/>
                                          </p:val>
                                        </p:tav>
                                      </p:tavLst>
                                    </p:anim>
                                  </p:childTnLst>
                                </p:cTn>
                              </p:par>
                              <p:par>
                                <p:cTn id="9" presetID="10" presetClass="entr" presetSubtype="0" fill="hold" grpId="0" nodeType="withEffect">
                                  <p:stCondLst>
                                    <p:cond delay="12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par>
                                <p:cTn id="12" presetID="10" presetClass="entr" presetSubtype="0" fill="hold" grpId="0" nodeType="withEffect">
                                  <p:stCondLst>
                                    <p:cond delay="24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childTnLst>
                                </p:cTn>
                              </p:par>
                              <p:par>
                                <p:cTn id="18" presetID="10" presetClass="entr" presetSubtype="0" fill="hold" grpId="0" nodeType="withEffect">
                                  <p:stCondLst>
                                    <p:cond delay="48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photo" descr="/home/user/-/site/assets/img/hands.jpg">    </p:cNvPr>
          <p:cNvPicPr>
            <a:picLocks noChangeAspect="1"/>
          </p:cNvPicPr>
          <p:nvPr/>
        </p:nvPicPr>
        <p:blipFill>
          <a:blip r:embed="rId1"/>
          <a:srcRect l="0" r="0" t="0" b="0"/>
          <a:stretch/>
        </p:blipFill>
        <p:spPr>
          <a:xfrm>
            <a:off x="0" y="0"/>
            <a:ext cx="4754880" cy="6858000"/>
          </a:xfrm>
          <a:prstGeom prst="rect">
            <a:avLst/>
          </a:prstGeom>
        </p:spPr>
      </p:pic>
      <p:sp>
        <p:nvSpPr>
          <p:cNvPr id="3"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الكتيب التعريفي الشامل للأعضاء الجدد</a:t>
            </a:r>
            <a:endParaRPr lang="ar-SA" sz="1400" dirty="0"/>
          </a:p>
        </p:txBody>
      </p:sp>
      <p:sp>
        <p:nvSpPr>
          <p:cNvPr id="4" name="Text 1"/>
          <p:cNvSpPr txBox="1"/>
          <p:nvPr/>
        </p:nvSpPr>
        <p:spPr>
          <a:xfrm>
            <a:off x="5303520" y="1737360"/>
            <a:ext cx="6339535" cy="914400"/>
          </a:xfrm>
          <a:prstGeom prst="rect">
            <a:avLst/>
          </a:prstGeom>
          <a:noFill/>
          <a:ln/>
        </p:spPr>
        <p:txBody>
          <a:bodyPr wrap="square" lIns="0" tIns="0" rIns="0" bIns="0" rtlCol="0" anchor="ctr"/>
          <a:lstStyle/>
          <a:p>
            <a:pPr rtl="1" algn="r" indent="0" marL="0">
              <a:buNone/>
            </a:pPr>
            <a:r>
              <a:rPr lang="ar-SA" altLang="en-US" sz="4000" b="1" dirty="0">
                <a:solidFill>
                  <a:schemeClr val="tx1"/>
                </a:solidFill>
              </a:rPr>
              <a:t>أهلاً بك في أسرة «تكامل»</a:t>
            </a:r>
            <a:endParaRPr lang="ar-SA" sz="4000" dirty="0"/>
          </a:p>
        </p:txBody>
      </p:sp>
      <p:sp>
        <p:nvSpPr>
          <p:cNvPr id="5" name="Text 2"/>
          <p:cNvSpPr txBox="1"/>
          <p:nvPr/>
        </p:nvSpPr>
        <p:spPr>
          <a:xfrm>
            <a:off x="5303520" y="2788920"/>
            <a:ext cx="6339535" cy="2194560"/>
          </a:xfrm>
          <a:prstGeom prst="rect">
            <a:avLst/>
          </a:prstGeom>
          <a:noFill/>
          <a:ln/>
        </p:spPr>
        <p:txBody>
          <a:bodyPr wrap="square" lIns="0" tIns="0" rIns="0" bIns="0" rtlCol="0" anchor="t"/>
          <a:lstStyle/>
          <a:p>
            <a:pPr rtl="1" algn="r" indent="0" marL="0">
              <a:lnSpc>
                <a:spcPct val="125000"/>
              </a:lnSpc>
              <a:buNone/>
            </a:pPr>
            <a:r>
              <a:rPr lang="ar-SA" altLang="en-US" sz="2000" dirty="0">
                <a:solidFill>
                  <a:schemeClr val="accent5"/>
                </a:solidFill>
              </a:rPr>
              <a:t>يسعدنا انضمامك إلينا عضواً فاعلاً ومساهماً في مسيرة التنمية والبناء. إن حضورك يمثّل إضافة نوعية لجهودنا في ترسيخ القيم الأخلاقية، ودعم التمكين الاقتصادي والمجتمعي، وتحقيق الاستدامة التنموية.</a:t>
            </a:r>
            <a:endParaRPr lang="ar-SA" sz="2000" dirty="0"/>
          </a:p>
        </p:txBody>
      </p:sp>
      <p:sp>
        <p:nvSpPr>
          <p:cNvPr id="6" name="Text 3"/>
          <p:cNvSpPr txBox="1"/>
          <p:nvPr/>
        </p:nvSpPr>
        <p:spPr>
          <a:xfrm>
            <a:off x="182880" y="6446520"/>
            <a:ext cx="1828800" cy="274320"/>
          </a:xfrm>
          <a:prstGeom prst="rect">
            <a:avLst/>
          </a:prstGeom>
          <a:noFill/>
          <a:ln/>
        </p:spPr>
        <p:txBody>
          <a:bodyPr wrap="square" rtlCol="0" anchor="ctr"/>
          <a:lstStyle/>
          <a:p>
            <a:pPr rtl="1" algn="l" indent="0" marL="0">
              <a:buNone/>
            </a:pPr>
            <a:r>
              <a:rPr lang="ar-SA" altLang="en-US" sz="1000" dirty="0">
                <a:solidFill>
                  <a:schemeClr val="bg1"/>
                </a:solidFill>
              </a:rPr>
              <a:t>صورة تعبيرية</a:t>
            </a:r>
            <a:endParaRPr lang="ar-SA" sz="1000" dirty="0"/>
          </a:p>
        </p:txBody>
      </p:sp>
      <p:sp>
        <p:nvSpPr>
          <p:cNvPr id="7"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endParaRPr lang="ar-SA" sz="3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ppt_y</p:attrName>
                                        </p:attrNameLst>
                                      </p:cBhvr>
                                      <p:tavLst>
                                        <p:tav tm="0">
                                          <p:val>
                                            <p:strVal val="#ppt_y+.06"/>
                                          </p:val>
                                        </p:tav>
                                        <p:tav tm="100000">
                                          <p:val>
                                            <p:strVal val="#ppt_y"/>
                                          </p:val>
                                        </p:tav>
                                      </p:tavLst>
                                    </p:anim>
                                  </p:childTnLst>
                                </p:cTn>
                              </p:par>
                              <p:par>
                                <p:cTn id="9" presetID="10" presetClass="entr" presetSubtype="0" fill="hold" grpId="0" nodeType="withEffect">
                                  <p:stCondLst>
                                    <p:cond delay="12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par>
                                <p:cTn id="12" presetID="10" presetClass="entr" presetSubtype="0" fill="hold" grpId="0" nodeType="withEffect">
                                  <p:stCondLst>
                                    <p:cond delay="24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childTnLst>
                                </p:cTn>
                              </p:par>
                              <p:par>
                                <p:cTn id="18" presetID="10" presetClass="entr" presetSubtype="0" fill="hold" grpId="0" nodeType="withEffect">
                                  <p:stCondLst>
                                    <p:cond delay="48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600"/>
                                        <p:tgtEl>
                                          <p:spTgt spid="6"/>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1 · من نحن، وأين نعمل</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الهوية والمقر والأحكام العامة</a:t>
            </a:r>
            <a:endParaRPr lang="ar-SA" sz="3400" dirty="0"/>
          </a:p>
        </p:txBody>
      </p:sp>
      <p:sp>
        <p:nvSpPr>
          <p:cNvPr id="4" name="Text 2"/>
          <p:cNvSpPr txBox="1"/>
          <p:nvPr/>
        </p:nvSpPr>
        <p:spPr>
          <a:xfrm>
            <a:off x="548640" y="1691640"/>
            <a:ext cx="11094415" cy="1005840"/>
          </a:xfrm>
          <a:prstGeom prst="rect">
            <a:avLst/>
          </a:prstGeom>
          <a:noFill/>
          <a:ln/>
        </p:spPr>
        <p:txBody>
          <a:bodyPr wrap="square" lIns="0" tIns="0" rIns="0" bIns="0" rtlCol="0" anchor="ctr"/>
          <a:lstStyle/>
          <a:p>
            <a:pPr rtl="1" algn="r" indent="0" marL="0">
              <a:buNone/>
            </a:pPr>
            <a:r>
              <a:rPr lang="ar-SA" altLang="en-US" sz="1700" dirty="0">
                <a:solidFill>
                  <a:schemeClr val="accent5"/>
                </a:solidFill>
              </a:rPr>
              <a:t>جمعية تكامل لبناء القيم والتنمية مؤسسة أهلية مستقلة غير ربحية، مسجّلة وفق أحكام القانون، تسعى إلى بناء الإنسان وتعزيز منظومة القيم الأخلاقية والاجتماعية ودعم التنمية المستدامة عبر مشاريع نوعية ومبتكرة.</a:t>
            </a:r>
            <a:endParaRPr lang="ar-SA" sz="1700" dirty="0"/>
          </a:p>
        </p:txBody>
      </p:sp>
      <p:sp>
        <p:nvSpPr>
          <p:cNvPr id="5" name="card"/>
          <p:cNvSpPr txBox="1"/>
          <p:nvPr/>
        </p:nvSpPr>
        <p:spPr>
          <a:xfrm>
            <a:off x="8127797" y="2926080"/>
            <a:ext cx="3515258" cy="1920240"/>
          </a:xfrm>
          <a:prstGeom prst="roundRect">
            <a:avLst>
              <a:gd name="adj" fmla="val 5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000" b="1" dirty="0">
                <a:solidFill>
                  <a:schemeClr val="accent1"/>
                </a:solidFill>
              </a:rPr>
              <a:t>الاسم الرسمي</a:t>
            </a:r>
            <a:endParaRPr lang="ar-SA" sz="2000" dirty="0"/>
          </a:p>
          <a:p>
            <a:pPr rtl="1" algn="r" indent="0" marL="0">
              <a:spcAft>
                <a:spcPts val="600"/>
              </a:spcAft>
              <a:buNone/>
            </a:pPr>
            <a:r>
              <a:rPr lang="ar-SA" altLang="en-US" sz="1500" dirty="0">
                <a:solidFill>
                  <a:schemeClr val="accent5"/>
                </a:solidFill>
              </a:rPr>
              <a:t>جمعية تكامل لبناء القيم والتنمية – مؤسسة أهلية مسجلة ذات نطاق عمل مجتمعي وتنموي شامل</a:t>
            </a:r>
            <a:endParaRPr lang="ar-SA" sz="2000" dirty="0"/>
          </a:p>
        </p:txBody>
      </p:sp>
      <p:sp>
        <p:nvSpPr>
          <p:cNvPr id="6" name="card"/>
          <p:cNvSpPr txBox="1"/>
          <p:nvPr/>
        </p:nvSpPr>
        <p:spPr>
          <a:xfrm>
            <a:off x="4338218" y="2926080"/>
            <a:ext cx="3515258" cy="1920240"/>
          </a:xfrm>
          <a:prstGeom prst="roundRect">
            <a:avLst>
              <a:gd name="adj" fmla="val 5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000" b="1" dirty="0">
                <a:solidFill>
                  <a:schemeClr val="accent1"/>
                </a:solidFill>
              </a:rPr>
              <a:t>المقر الرئيسي</a:t>
            </a:r>
            <a:endParaRPr lang="ar-SA" sz="2000" dirty="0"/>
          </a:p>
          <a:p>
            <a:pPr rtl="1" algn="r" indent="0" marL="0">
              <a:spcAft>
                <a:spcPts val="600"/>
              </a:spcAft>
              <a:buNone/>
            </a:pPr>
            <a:r>
              <a:rPr lang="ar-SA" altLang="en-US" sz="1500" dirty="0">
                <a:solidFill>
                  <a:schemeClr val="accent5"/>
                </a:solidFill>
              </a:rPr>
              <a:t>مدينة إسطنبول، الجمهورية التركية</a:t>
            </a:r>
            <a:endParaRPr lang="ar-SA" sz="2000" dirty="0"/>
          </a:p>
        </p:txBody>
      </p:sp>
      <p:sp>
        <p:nvSpPr>
          <p:cNvPr id="7" name="card"/>
          <p:cNvSpPr txBox="1"/>
          <p:nvPr/>
        </p:nvSpPr>
        <p:spPr>
          <a:xfrm>
            <a:off x="548640" y="2926080"/>
            <a:ext cx="3515258" cy="1920240"/>
          </a:xfrm>
          <a:prstGeom prst="roundRect">
            <a:avLst>
              <a:gd name="adj" fmla="val 5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000" b="1" dirty="0">
                <a:solidFill>
                  <a:schemeClr val="accent1"/>
                </a:solidFill>
              </a:rPr>
              <a:t>نطاق العمل</a:t>
            </a:r>
            <a:endParaRPr lang="ar-SA" sz="2000" dirty="0"/>
          </a:p>
          <a:p>
            <a:pPr rtl="1" algn="r" indent="0" marL="0">
              <a:spcAft>
                <a:spcPts val="600"/>
              </a:spcAft>
              <a:buNone/>
            </a:pPr>
            <a:r>
              <a:rPr lang="ar-SA" altLang="en-US" sz="1500" dirty="0">
                <a:solidFill>
                  <a:schemeClr val="accent5"/>
                </a:solidFill>
              </a:rPr>
              <a:t>محلي ودولي؛ يحق للجمعية افتتاح فروع ومكاتب تمثيلية داخل تركيا وخارجها وفق خطة التوسع المعتمدة</a:t>
            </a:r>
            <a:endParaRPr lang="ar-SA" sz="2000" dirty="0"/>
          </a:p>
        </p:txBody>
      </p:sp>
      <p:pic>
        <p:nvPicPr>
          <p:cNvPr id="8" name="photo" descr="/home/user/-/site/assets/img/ortakoy.jpg">    </p:cNvPr>
          <p:cNvPicPr>
            <a:picLocks noChangeAspect="1"/>
          </p:cNvPicPr>
          <p:nvPr/>
        </p:nvPicPr>
        <p:blipFill>
          <a:blip r:embed="rId1"/>
          <a:srcRect l="0" r="0" t="0" b="0"/>
          <a:stretch/>
        </p:blipFill>
        <p:spPr>
          <a:xfrm>
            <a:off x="548640" y="5029200"/>
            <a:ext cx="11094415" cy="1143000"/>
          </a:xfrm>
          <a:prstGeom prst="rect">
            <a:avLst/>
          </a:prstGeom>
        </p:spPr>
      </p:pic>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42" presetClass="entr" presetSubtype="0"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decel="100000" fill="hold"/>
                                        <p:tgtEl>
                                          <p:spTgt spid="5"/>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48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anim calcmode="lin" valueType="num">
                                      <p:cBhvr>
                                        <p:cTn id="21" dur="500" decel="100000" fill="hold"/>
                                        <p:tgtEl>
                                          <p:spTgt spid="6"/>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6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decel="10000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nodeType="withEffect">
                                  <p:stCondLst>
                                    <p:cond delay="72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2 · إلى أين نتجه، وكيف نصل</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الرؤية والرسالة والأهداف الإستراتيجية</a:t>
            </a:r>
            <a:endParaRPr lang="ar-SA" sz="3400" dirty="0"/>
          </a:p>
        </p:txBody>
      </p:sp>
      <p:sp>
        <p:nvSpPr>
          <p:cNvPr id="4" name="card"/>
          <p:cNvSpPr txBox="1"/>
          <p:nvPr/>
        </p:nvSpPr>
        <p:spPr>
          <a:xfrm>
            <a:off x="6278728" y="1783080"/>
            <a:ext cx="5364328" cy="4343400"/>
          </a:xfrm>
          <a:prstGeom prst="roundRect">
            <a:avLst>
              <a:gd name="adj" fmla="val 2526"/>
            </a:avLst>
          </a:prstGeom>
          <a:solidFill>
            <a:srgbClr val="17293A"/>
          </a:solidFill>
          <a:ln w="9525">
            <a:solidFill>
              <a:srgbClr val="25425C"/>
            </a:solidFill>
          </a:ln>
        </p:spPr>
        <p:txBody>
          <a:bodyPr wrap="square" lIns="304800" tIns="330200" rIns="330200" bIns="304800" rtlCol="0" anchor="t"/>
          <a:lstStyle/>
          <a:p>
            <a:pPr rtl="1" algn="r" indent="0" marL="0">
              <a:spcAft>
                <a:spcPts val="600"/>
              </a:spcAft>
              <a:buNone/>
            </a:pPr>
            <a:r>
              <a:rPr lang="ar-SA" altLang="en-US" sz="1600" b="1" dirty="0">
                <a:solidFill>
                  <a:schemeClr val="accent4"/>
                </a:solidFill>
              </a:rPr>
              <a:t>رؤية 2035</a:t>
            </a:r>
            <a:endParaRPr lang="ar-SA" sz="1600" dirty="0"/>
          </a:p>
          <a:p>
            <a:pPr rtl="1" algn="r" indent="0" marL="0">
              <a:spcAft>
                <a:spcPts val="600"/>
              </a:spcAft>
              <a:buNone/>
            </a:pPr>
            <a:r>
              <a:rPr lang="ar-SA" altLang="en-US" sz="3000" b="1" dirty="0">
                <a:solidFill>
                  <a:schemeClr val="bg1"/>
                </a:solidFill>
              </a:rPr>
              <a:t>الرؤية</a:t>
            </a:r>
            <a:endParaRPr lang="ar-SA" sz="1600" dirty="0"/>
          </a:p>
          <a:p>
            <a:pPr rtl="1" algn="r" indent="0" marL="0">
              <a:spcAft>
                <a:spcPts val="600"/>
              </a:spcAft>
              <a:buNone/>
            </a:pPr>
            <a:r>
              <a:rPr lang="ar-SA" altLang="en-US" sz="2000" dirty="0">
                <a:solidFill>
                  <a:schemeClr val="accent6"/>
                </a:solidFill>
              </a:rPr>
              <a:t>أن نكون المؤسسة الرائدة عالمياً في بناء القيم وترسيخ البناء الأخلاقي وتعزيز التنسيق والشراكة بين منظمات المجتمع المدني، وتحقيق تنمية مجتمعية واقتصادية شاملة ومستدامة للمجتمعات والأسر والأفراد بحلول عام 2035.</a:t>
            </a:r>
            <a:endParaRPr lang="ar-SA" sz="1600" dirty="0"/>
          </a:p>
        </p:txBody>
      </p:sp>
      <p:sp>
        <p:nvSpPr>
          <p:cNvPr id="5" name="card"/>
          <p:cNvSpPr txBox="1"/>
          <p:nvPr/>
        </p:nvSpPr>
        <p:spPr>
          <a:xfrm>
            <a:off x="548640" y="1783080"/>
            <a:ext cx="5364328" cy="4343400"/>
          </a:xfrm>
          <a:prstGeom prst="roundRect">
            <a:avLst>
              <a:gd name="adj" fmla="val 2526"/>
            </a:avLst>
          </a:prstGeom>
          <a:solidFill>
            <a:srgbClr val="17293A"/>
          </a:solidFill>
          <a:ln w="9525">
            <a:solidFill>
              <a:srgbClr val="25425C"/>
            </a:solidFill>
          </a:ln>
        </p:spPr>
        <p:txBody>
          <a:bodyPr wrap="square" lIns="304800" tIns="330200" rIns="330200" bIns="304800" rtlCol="0" anchor="t"/>
          <a:lstStyle/>
          <a:p>
            <a:pPr rtl="1" algn="r" indent="0" marL="0">
              <a:spcAft>
                <a:spcPts val="600"/>
              </a:spcAft>
              <a:buNone/>
            </a:pPr>
            <a:r>
              <a:rPr lang="ar-SA" altLang="en-US" sz="1600" b="1" dirty="0">
                <a:solidFill>
                  <a:schemeClr val="accent3"/>
                </a:solidFill>
              </a:rPr>
              <a:t>«ينابيع» و«منافع»</a:t>
            </a:r>
            <a:endParaRPr lang="ar-SA" sz="1600" dirty="0"/>
          </a:p>
          <a:p>
            <a:pPr rtl="1" algn="r" indent="0" marL="0">
              <a:spcAft>
                <a:spcPts val="600"/>
              </a:spcAft>
              <a:buNone/>
            </a:pPr>
            <a:r>
              <a:rPr lang="ar-SA" altLang="en-US" sz="3000" b="1" dirty="0">
                <a:solidFill>
                  <a:schemeClr val="bg1"/>
                </a:solidFill>
              </a:rPr>
              <a:t>الرسالة</a:t>
            </a:r>
            <a:endParaRPr lang="ar-SA" sz="1600" dirty="0"/>
          </a:p>
          <a:p>
            <a:pPr rtl="1" algn="r" indent="0" marL="0">
              <a:spcAft>
                <a:spcPts val="600"/>
              </a:spcAft>
              <a:buNone/>
            </a:pPr>
            <a:r>
              <a:rPr lang="ar-SA" altLang="en-US" sz="2000" dirty="0">
                <a:solidFill>
                  <a:schemeClr val="accent6"/>
                </a:solidFill>
              </a:rPr>
              <a:t>ترسيخ القيم الأخلاقية والمهارية لدى الأفراد والمؤسسات، واستثمار الطاقات البشرية عبر برامج قيمية وتكاملية، وتفعيل الشراكات مع الجمعيات التركية وجمعيات الجاليات، وإطلاق مبادرات تنموية وإنتاجية نموذجية تحقق الاستقرار والازدهار وتوفر فرص العمل.</a:t>
            </a:r>
            <a:endParaRPr lang="ar-SA"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2 · الرؤية والرسالة والأهداف الإستراتيجية</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الأهداف الإستراتيجية</a:t>
            </a:r>
            <a:endParaRPr lang="ar-SA" sz="3400" dirty="0"/>
          </a:p>
        </p:txBody>
      </p:sp>
      <p:sp>
        <p:nvSpPr>
          <p:cNvPr id="4" name="card"/>
          <p:cNvSpPr txBox="1"/>
          <p:nvPr/>
        </p:nvSpPr>
        <p:spPr>
          <a:xfrm>
            <a:off x="9607052" y="1828800"/>
            <a:ext cx="2036003" cy="4206240"/>
          </a:xfrm>
          <a:prstGeom prst="roundRect">
            <a:avLst>
              <a:gd name="adj" fmla="val 5389"/>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3600" b="1" dirty="0">
                <a:solidFill>
                  <a:schemeClr val="accent1"/>
                </a:solidFill>
              </a:rPr>
              <a:t>1</a:t>
            </a:r>
            <a:endParaRPr lang="ar-SA" sz="3600" dirty="0"/>
          </a:p>
          <a:p>
            <a:pPr rtl="1" algn="r" indent="0" marL="0">
              <a:spcAft>
                <a:spcPts val="600"/>
              </a:spcAft>
              <a:buNone/>
            </a:pPr>
            <a:r>
              <a:rPr lang="ar-SA" altLang="en-US" sz="1700" b="1" dirty="0">
                <a:solidFill>
                  <a:schemeClr val="tx1"/>
                </a:solidFill>
              </a:rPr>
              <a:t>تعزيز القيم الإيجابية</a:t>
            </a:r>
            <a:endParaRPr lang="ar-SA" sz="3600" dirty="0"/>
          </a:p>
          <a:p>
            <a:pPr rtl="1" algn="r" indent="0" marL="0">
              <a:spcAft>
                <a:spcPts val="600"/>
              </a:spcAft>
              <a:buNone/>
            </a:pPr>
            <a:r>
              <a:rPr lang="ar-SA" altLang="en-US" sz="1400" dirty="0">
                <a:solidFill>
                  <a:schemeClr val="accent5"/>
                </a:solidFill>
              </a:rPr>
              <a:t>ترسيخ القيم الأخلاقية والإنسانية والوسطية في المجتمع، وبناء أجيال ذات مرجعية قيمية راسخة.</a:t>
            </a:r>
            <a:endParaRPr lang="ar-SA" sz="3600" dirty="0"/>
          </a:p>
        </p:txBody>
      </p:sp>
      <p:sp>
        <p:nvSpPr>
          <p:cNvPr id="5" name="card"/>
          <p:cNvSpPr txBox="1"/>
          <p:nvPr/>
        </p:nvSpPr>
        <p:spPr>
          <a:xfrm>
            <a:off x="7342449" y="1828800"/>
            <a:ext cx="2036003" cy="4206240"/>
          </a:xfrm>
          <a:prstGeom prst="roundRect">
            <a:avLst>
              <a:gd name="adj" fmla="val 5389"/>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3600" b="1" dirty="0">
                <a:solidFill>
                  <a:schemeClr val="accent1"/>
                </a:solidFill>
              </a:rPr>
              <a:t>2</a:t>
            </a:r>
            <a:endParaRPr lang="ar-SA" sz="3600" dirty="0"/>
          </a:p>
          <a:p>
            <a:pPr rtl="1" algn="r" indent="0" marL="0">
              <a:spcAft>
                <a:spcPts val="600"/>
              </a:spcAft>
              <a:buNone/>
            </a:pPr>
            <a:r>
              <a:rPr lang="ar-SA" altLang="en-US" sz="1700" b="1" dirty="0">
                <a:solidFill>
                  <a:schemeClr val="tx1"/>
                </a:solidFill>
              </a:rPr>
              <a:t>التمكين والتأهيل</a:t>
            </a:r>
            <a:endParaRPr lang="ar-SA" sz="3600" dirty="0"/>
          </a:p>
          <a:p>
            <a:pPr rtl="1" algn="r" indent="0" marL="0">
              <a:spcAft>
                <a:spcPts val="600"/>
              </a:spcAft>
              <a:buNone/>
            </a:pPr>
            <a:r>
              <a:rPr lang="ar-SA" altLang="en-US" sz="1400" dirty="0">
                <a:solidFill>
                  <a:schemeClr val="accent5"/>
                </a:solidFill>
              </a:rPr>
              <a:t>إكساب الشباب والأسر والنساء المهارات الحياتية والاقتصادية الحديثة والتأهيل المهني.</a:t>
            </a:r>
            <a:endParaRPr lang="ar-SA" sz="3600" dirty="0"/>
          </a:p>
        </p:txBody>
      </p:sp>
      <p:sp>
        <p:nvSpPr>
          <p:cNvPr id="6" name="card"/>
          <p:cNvSpPr txBox="1"/>
          <p:nvPr/>
        </p:nvSpPr>
        <p:spPr>
          <a:xfrm>
            <a:off x="5077846" y="1828800"/>
            <a:ext cx="2036003" cy="4206240"/>
          </a:xfrm>
          <a:prstGeom prst="roundRect">
            <a:avLst>
              <a:gd name="adj" fmla="val 5389"/>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3600" b="1" dirty="0">
                <a:solidFill>
                  <a:schemeClr val="accent1"/>
                </a:solidFill>
              </a:rPr>
              <a:t>3</a:t>
            </a:r>
            <a:endParaRPr lang="ar-SA" sz="3600" dirty="0"/>
          </a:p>
          <a:p>
            <a:pPr rtl="1" algn="r" indent="0" marL="0">
              <a:spcAft>
                <a:spcPts val="600"/>
              </a:spcAft>
              <a:buNone/>
            </a:pPr>
            <a:r>
              <a:rPr lang="ar-SA" altLang="en-US" sz="1700" b="1" dirty="0">
                <a:solidFill>
                  <a:schemeClr val="tx1"/>
                </a:solidFill>
              </a:rPr>
              <a:t>التكامل والتنسيق المؤسسي</a:t>
            </a:r>
            <a:endParaRPr lang="ar-SA" sz="3600" dirty="0"/>
          </a:p>
          <a:p>
            <a:pPr rtl="1" algn="r" indent="0" marL="0">
              <a:spcAft>
                <a:spcPts val="600"/>
              </a:spcAft>
              <a:buNone/>
            </a:pPr>
            <a:r>
              <a:rPr lang="ar-SA" altLang="en-US" sz="1400" dirty="0">
                <a:solidFill>
                  <a:schemeClr val="accent5"/>
                </a:solidFill>
              </a:rPr>
              <a:t>الربط بين الجمعيات التركية وجمعيات الجاليات لتفادي تكرار الجهود وتبادل الخبرات وتعظيم الاستفادة من الموارد.</a:t>
            </a:r>
            <a:endParaRPr lang="ar-SA" sz="3600" dirty="0"/>
          </a:p>
        </p:txBody>
      </p:sp>
      <p:sp>
        <p:nvSpPr>
          <p:cNvPr id="7" name="card"/>
          <p:cNvSpPr txBox="1"/>
          <p:nvPr/>
        </p:nvSpPr>
        <p:spPr>
          <a:xfrm>
            <a:off x="2813243" y="1828800"/>
            <a:ext cx="2036003" cy="4206240"/>
          </a:xfrm>
          <a:prstGeom prst="roundRect">
            <a:avLst>
              <a:gd name="adj" fmla="val 5389"/>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3600" b="1" dirty="0">
                <a:solidFill>
                  <a:schemeClr val="accent1"/>
                </a:solidFill>
              </a:rPr>
              <a:t>4</a:t>
            </a:r>
            <a:endParaRPr lang="ar-SA" sz="3600" dirty="0"/>
          </a:p>
          <a:p>
            <a:pPr rtl="1" algn="r" indent="0" marL="0">
              <a:spcAft>
                <a:spcPts val="600"/>
              </a:spcAft>
              <a:buNone/>
            </a:pPr>
            <a:r>
              <a:rPr lang="ar-SA" altLang="en-US" sz="1700" b="1" dirty="0">
                <a:solidFill>
                  <a:schemeClr val="tx1"/>
                </a:solidFill>
              </a:rPr>
              <a:t>مساندة التنمية والجهود الرسمية</a:t>
            </a:r>
            <a:endParaRPr lang="ar-SA" sz="3600" dirty="0"/>
          </a:p>
          <a:p>
            <a:pPr rtl="1" algn="r" indent="0" marL="0">
              <a:spcAft>
                <a:spcPts val="600"/>
              </a:spcAft>
              <a:buNone/>
            </a:pPr>
            <a:r>
              <a:rPr lang="ar-SA" altLang="en-US" sz="1400" dirty="0">
                <a:solidFill>
                  <a:schemeClr val="accent5"/>
                </a:solidFill>
              </a:rPr>
              <a:t>دعم جهود الدولة في توفير فرص العمل والتأهيل المهني والحد من التحديات الاقتصادية والبطالة.</a:t>
            </a:r>
            <a:endParaRPr lang="ar-SA" sz="3600" dirty="0"/>
          </a:p>
        </p:txBody>
      </p:sp>
      <p:sp>
        <p:nvSpPr>
          <p:cNvPr id="8" name="card"/>
          <p:cNvSpPr txBox="1"/>
          <p:nvPr/>
        </p:nvSpPr>
        <p:spPr>
          <a:xfrm>
            <a:off x="548640" y="1828800"/>
            <a:ext cx="2036003" cy="4206240"/>
          </a:xfrm>
          <a:prstGeom prst="roundRect">
            <a:avLst>
              <a:gd name="adj" fmla="val 5389"/>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3600" b="1" dirty="0">
                <a:solidFill>
                  <a:schemeClr val="accent1"/>
                </a:solidFill>
              </a:rPr>
              <a:t>5</a:t>
            </a:r>
            <a:endParaRPr lang="ar-SA" sz="3600" dirty="0"/>
          </a:p>
          <a:p>
            <a:pPr rtl="1" algn="r" indent="0" marL="0">
              <a:spcAft>
                <a:spcPts val="600"/>
              </a:spcAft>
              <a:buNone/>
            </a:pPr>
            <a:r>
              <a:rPr lang="ar-SA" altLang="en-US" sz="1700" b="1" dirty="0">
                <a:solidFill>
                  <a:schemeClr val="tx1"/>
                </a:solidFill>
              </a:rPr>
              <a:t>الاستدامة والحلول الشاملة</a:t>
            </a:r>
            <a:endParaRPr lang="ar-SA" sz="3600" dirty="0"/>
          </a:p>
          <a:p>
            <a:pPr rtl="1" algn="r" indent="0" marL="0">
              <a:spcAft>
                <a:spcPts val="600"/>
              </a:spcAft>
              <a:buNone/>
            </a:pPr>
            <a:r>
              <a:rPr lang="ar-SA" altLang="en-US" sz="1400" dirty="0">
                <a:solidFill>
                  <a:schemeClr val="accent5"/>
                </a:solidFill>
              </a:rPr>
              <a:t>تقديم حلول تنموية واجتماعية واقتصادية قائمة على الشراكات الإستراتيجية والاستثمار الاجتماعي.</a:t>
            </a:r>
            <a:endParaRPr lang="ar-SA" sz="3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7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3 · مبادرتان تنمويتان ومحور مساند</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المبادرات التنموية الرئيسية ومحاور العمل</a:t>
            </a:r>
            <a:endParaRPr lang="ar-SA" sz="3400" dirty="0"/>
          </a:p>
        </p:txBody>
      </p:sp>
      <p:pic>
        <p:nvPicPr>
          <p:cNvPr id="4" name="photo" descr="/home/user/-/site/assets/img/reading.jpg">    </p:cNvPr>
          <p:cNvPicPr>
            <a:picLocks noChangeAspect="1"/>
          </p:cNvPicPr>
          <p:nvPr/>
        </p:nvPicPr>
        <p:blipFill>
          <a:blip r:embed="rId1"/>
          <a:srcRect l="0" r="0" t="0" b="0"/>
          <a:stretch/>
        </p:blipFill>
        <p:spPr>
          <a:xfrm>
            <a:off x="6278728" y="1783080"/>
            <a:ext cx="5364328" cy="2011680"/>
          </a:xfrm>
          <a:prstGeom prst="rect">
            <a:avLst/>
          </a:prstGeom>
        </p:spPr>
      </p:pic>
      <p:sp>
        <p:nvSpPr>
          <p:cNvPr id="5" name="card"/>
          <p:cNvSpPr txBox="1"/>
          <p:nvPr/>
        </p:nvSpPr>
        <p:spPr>
          <a:xfrm>
            <a:off x="6278728" y="3886200"/>
            <a:ext cx="5364328" cy="2240280"/>
          </a:xfrm>
          <a:prstGeom prst="roundRect">
            <a:avLst>
              <a:gd name="adj" fmla="val 4898"/>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1900" b="1" dirty="0">
                <a:solidFill>
                  <a:schemeClr val="accent3"/>
                </a:solidFill>
              </a:rPr>
              <a:t>مبادرة «ينابيع» – البناء الفكري والقيمي والتربية التفاعلية</a:t>
            </a:r>
            <a:endParaRPr lang="ar-SA" sz="1900" dirty="0"/>
          </a:p>
          <a:p>
            <a:pPr rtl="1" algn="r" indent="0" marL="0">
              <a:spcAft>
                <a:spcPts val="600"/>
              </a:spcAft>
              <a:buNone/>
            </a:pPr>
            <a:r>
              <a:rPr lang="ar-SA" altLang="en-US" sz="1500" dirty="0">
                <a:solidFill>
                  <a:schemeClr val="accent6"/>
                </a:solidFill>
              </a:rPr>
              <a:t>مجال التركيز: التربية القيمية، والبناء الفكري، والتواصل الثقافي والمجتمعي والتكيف.</a:t>
            </a:r>
            <a:endParaRPr lang="ar-SA" sz="1900" dirty="0"/>
          </a:p>
        </p:txBody>
      </p:sp>
      <p:pic>
        <p:nvPicPr>
          <p:cNvPr id="6" name="photo" descr="/home/user/-/site/assets/img/workshop.jpg">    </p:cNvPr>
          <p:cNvPicPr>
            <a:picLocks noChangeAspect="1"/>
          </p:cNvPicPr>
          <p:nvPr/>
        </p:nvPicPr>
        <p:blipFill>
          <a:blip r:embed="rId2"/>
          <a:srcRect l="0" r="0" t="0" b="0"/>
          <a:stretch/>
        </p:blipFill>
        <p:spPr>
          <a:xfrm>
            <a:off x="548640" y="1783080"/>
            <a:ext cx="5364328" cy="2011680"/>
          </a:xfrm>
          <a:prstGeom prst="rect">
            <a:avLst/>
          </a:prstGeom>
        </p:spPr>
      </p:pic>
      <p:sp>
        <p:nvSpPr>
          <p:cNvPr id="7" name="card"/>
          <p:cNvSpPr txBox="1"/>
          <p:nvPr/>
        </p:nvSpPr>
        <p:spPr>
          <a:xfrm>
            <a:off x="548640" y="3886200"/>
            <a:ext cx="5364328" cy="2240280"/>
          </a:xfrm>
          <a:prstGeom prst="roundRect">
            <a:avLst>
              <a:gd name="adj" fmla="val 4898"/>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1900" b="1" dirty="0">
                <a:solidFill>
                  <a:schemeClr val="accent4"/>
                </a:solidFill>
              </a:rPr>
              <a:t>مبادرة «منافع» – التكافل والتضامن والتمكين الاقتصادي</a:t>
            </a:r>
            <a:endParaRPr lang="ar-SA" sz="1900" dirty="0"/>
          </a:p>
          <a:p>
            <a:pPr rtl="1" algn="r" indent="0" marL="0">
              <a:spcAft>
                <a:spcPts val="600"/>
              </a:spcAft>
              <a:buNone/>
            </a:pPr>
            <a:r>
              <a:rPr lang="ar-SA" altLang="en-US" sz="1500" dirty="0">
                <a:solidFill>
                  <a:schemeClr val="accent6"/>
                </a:solidFill>
              </a:rPr>
              <a:t>مجال التركيز: معالجة التحديات الاقتصادية، والتمكين الاقتصادي، والتوظيف، والتكافل والتضامن.</a:t>
            </a:r>
            <a:endParaRPr lang="ar-SA" sz="19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6</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4 · المبادئ التي نعمل بها، والفرق التي تنفّذ</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فلسفة العمل</a:t>
            </a:r>
            <a:endParaRPr lang="ar-SA" sz="3400" dirty="0"/>
          </a:p>
        </p:txBody>
      </p:sp>
      <p:sp>
        <p:nvSpPr>
          <p:cNvPr id="4" name="card"/>
          <p:cNvSpPr txBox="1"/>
          <p:nvPr/>
        </p:nvSpPr>
        <p:spPr>
          <a:xfrm>
            <a:off x="6233008" y="1828800"/>
            <a:ext cx="541004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1300" b="1" dirty="0">
                <a:solidFill>
                  <a:schemeClr val="accent1"/>
                </a:solidFill>
              </a:rPr>
              <a:t>Synergy</a:t>
            </a:r>
            <a:endParaRPr lang="ar-SA" sz="1300" dirty="0"/>
          </a:p>
          <a:p>
            <a:pPr rtl="1" algn="r" indent="0" marL="0">
              <a:spcAft>
                <a:spcPts val="600"/>
              </a:spcAft>
              <a:buNone/>
            </a:pPr>
            <a:r>
              <a:rPr lang="ar-SA" altLang="en-US" sz="2400" b="1" dirty="0">
                <a:solidFill>
                  <a:schemeClr val="tx1"/>
                </a:solidFill>
              </a:rPr>
              <a:t>التكامل والربط</a:t>
            </a:r>
            <a:endParaRPr lang="ar-SA" sz="1300" dirty="0"/>
          </a:p>
          <a:p>
            <a:pPr rtl="1" algn="r" indent="0" marL="0">
              <a:spcAft>
                <a:spcPts val="600"/>
              </a:spcAft>
              <a:buNone/>
            </a:pPr>
            <a:r>
              <a:rPr lang="ar-SA" altLang="en-US" sz="1800" dirty="0">
                <a:solidFill>
                  <a:schemeClr val="accent5"/>
                </a:solidFill>
              </a:rPr>
              <a:t>تنسيق فاعل بين الجمعيات الأهلية لبناء شراكات مثمرة واستثمار الموارد بكفاءة.</a:t>
            </a:r>
            <a:endParaRPr lang="ar-SA" sz="1300" dirty="0"/>
          </a:p>
        </p:txBody>
      </p:sp>
      <p:sp>
        <p:nvSpPr>
          <p:cNvPr id="5" name="card"/>
          <p:cNvSpPr txBox="1"/>
          <p:nvPr/>
        </p:nvSpPr>
        <p:spPr>
          <a:xfrm>
            <a:off x="548640" y="1828800"/>
            <a:ext cx="541004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1300" b="1" dirty="0">
                <a:solidFill>
                  <a:schemeClr val="accent1"/>
                </a:solidFill>
              </a:rPr>
              <a:t>Empowerment</a:t>
            </a:r>
            <a:endParaRPr lang="ar-SA" sz="1300" dirty="0"/>
          </a:p>
          <a:p>
            <a:pPr rtl="1" algn="r" indent="0" marL="0">
              <a:spcAft>
                <a:spcPts val="600"/>
              </a:spcAft>
              <a:buNone/>
            </a:pPr>
            <a:r>
              <a:rPr lang="ar-SA" altLang="en-US" sz="2400" b="1" dirty="0">
                <a:solidFill>
                  <a:schemeClr val="tx1"/>
                </a:solidFill>
              </a:rPr>
              <a:t>التمكين والديمومة</a:t>
            </a:r>
            <a:endParaRPr lang="ar-SA" sz="1300" dirty="0"/>
          </a:p>
          <a:p>
            <a:pPr rtl="1" algn="r" indent="0" marL="0">
              <a:spcAft>
                <a:spcPts val="600"/>
              </a:spcAft>
              <a:buNone/>
            </a:pPr>
            <a:r>
              <a:rPr lang="ar-SA" altLang="en-US" sz="1800" dirty="0">
                <a:solidFill>
                  <a:schemeClr val="accent5"/>
                </a:solidFill>
              </a:rPr>
              <a:t>الانتقال من الإغاثة المباشرة إلى التأهيل المهني والتمكين الإنتاجي المستدام.</a:t>
            </a:r>
            <a:endParaRPr lang="ar-SA" sz="1300" dirty="0"/>
          </a:p>
        </p:txBody>
      </p:sp>
      <p:sp>
        <p:nvSpPr>
          <p:cNvPr id="6" name="card"/>
          <p:cNvSpPr txBox="1"/>
          <p:nvPr/>
        </p:nvSpPr>
        <p:spPr>
          <a:xfrm>
            <a:off x="6233008" y="4069080"/>
            <a:ext cx="541004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1300" b="1" dirty="0">
                <a:solidFill>
                  <a:schemeClr val="accent1"/>
                </a:solidFill>
              </a:rPr>
              <a:t>Dual Impact</a:t>
            </a:r>
            <a:endParaRPr lang="ar-SA" sz="1300" dirty="0"/>
          </a:p>
          <a:p>
            <a:pPr rtl="1" algn="r" indent="0" marL="0">
              <a:spcAft>
                <a:spcPts val="600"/>
              </a:spcAft>
              <a:buNone/>
            </a:pPr>
            <a:r>
              <a:rPr lang="ar-SA" altLang="en-US" sz="2400" b="1" dirty="0">
                <a:solidFill>
                  <a:schemeClr val="tx1"/>
                </a:solidFill>
              </a:rPr>
              <a:t>الأثر المزدوج</a:t>
            </a:r>
            <a:endParaRPr lang="ar-SA" sz="1300" dirty="0"/>
          </a:p>
          <a:p>
            <a:pPr rtl="1" algn="r" indent="0" marL="0">
              <a:spcAft>
                <a:spcPts val="600"/>
              </a:spcAft>
              <a:buNone/>
            </a:pPr>
            <a:r>
              <a:rPr lang="ar-SA" altLang="en-US" sz="1800" dirty="0">
                <a:solidFill>
                  <a:schemeClr val="accent5"/>
                </a:solidFill>
              </a:rPr>
              <a:t>جمع متوازن بين البناء القيمي (ينابيع) والتمكين الاقتصادي والاجتماعي (منافع).</a:t>
            </a:r>
            <a:endParaRPr lang="ar-SA" sz="1300" dirty="0"/>
          </a:p>
        </p:txBody>
      </p:sp>
      <p:sp>
        <p:nvSpPr>
          <p:cNvPr id="7" name="card"/>
          <p:cNvSpPr txBox="1"/>
          <p:nvPr/>
        </p:nvSpPr>
        <p:spPr>
          <a:xfrm>
            <a:off x="548640" y="4069080"/>
            <a:ext cx="541004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1300" b="1" dirty="0">
                <a:solidFill>
                  <a:schemeClr val="accent1"/>
                </a:solidFill>
              </a:rPr>
              <a:t>Self-Sustainability</a:t>
            </a:r>
            <a:endParaRPr lang="ar-SA" sz="1300" dirty="0"/>
          </a:p>
          <a:p>
            <a:pPr rtl="1" algn="r" indent="0" marL="0">
              <a:spcAft>
                <a:spcPts val="600"/>
              </a:spcAft>
              <a:buNone/>
            </a:pPr>
            <a:r>
              <a:rPr lang="ar-SA" altLang="en-US" sz="2400" b="1" dirty="0">
                <a:solidFill>
                  <a:schemeClr val="tx1"/>
                </a:solidFill>
              </a:rPr>
              <a:t>الاستدامة الذاتية</a:t>
            </a:r>
            <a:endParaRPr lang="ar-SA" sz="1300" dirty="0"/>
          </a:p>
          <a:p>
            <a:pPr rtl="1" algn="r" indent="0" marL="0">
              <a:spcAft>
                <a:spcPts val="600"/>
              </a:spcAft>
              <a:buNone/>
            </a:pPr>
            <a:r>
              <a:rPr lang="ar-SA" altLang="en-US" sz="1800" dirty="0">
                <a:solidFill>
                  <a:schemeClr val="accent5"/>
                </a:solidFill>
              </a:rPr>
              <a:t>تشغيل استثماري واجتماعي يضمن موارد ثابتة لتمويل البرامج.</a:t>
            </a:r>
            <a:endParaRPr lang="ar-SA"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7</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4 · فلسفة العمل والأقسام التنفيذية</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الأقسام التنفيذية داخل الجمعية</a:t>
            </a:r>
            <a:endParaRPr lang="ar-SA" sz="3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6878537"/>
                <a:gridCol w="4215878"/>
              </a:tblGrid>
              <a:tr h="658368">
                <a:tc>
                  <a:txBody>
                    <a:bodyPr/>
                    <a:lstStyle/>
                    <a:p>
                      <a:pPr rtl="1" algn="r" indent="0" marL="0">
                        <a:buNone/>
                      </a:pPr>
                      <a:r>
                        <a:rPr lang="en-US" sz="1500" b="1" dirty="0">
                          <a:solidFill>
                            <a:schemeClr val="bg1"/>
                          </a:solidFill>
                        </a:rPr>
                        <a:t>المهام الرئيسية</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accent1"/>
                    </a:solidFill>
                  </a:tcPr>
                </a:tc>
                <a:tc>
                  <a:txBody>
                    <a:bodyPr/>
                    <a:lstStyle/>
                    <a:p>
                      <a:pPr rtl="1" algn="r" indent="0" marL="0">
                        <a:buNone/>
                      </a:pPr>
                      <a:r>
                        <a:rPr lang="en-US" sz="1500" b="1" dirty="0">
                          <a:solidFill>
                            <a:schemeClr val="bg1"/>
                          </a:solidFill>
                        </a:rPr>
                        <a:t>القسم</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accent1"/>
                    </a:solidFill>
                  </a:tcPr>
                </a:tc>
              </a:tr>
              <a:tr h="658368">
                <a:tc>
                  <a:txBody>
                    <a:bodyPr/>
                    <a:lstStyle/>
                    <a:p>
                      <a:pPr rtl="1" algn="r" indent="0" marL="0">
                        <a:buNone/>
                      </a:pPr>
                      <a:r>
                        <a:rPr lang="en-US" sz="1500" dirty="0">
                          <a:solidFill>
                            <a:schemeClr val="accent5"/>
                          </a:solidFill>
                        </a:rPr>
                        <a:t>إعداد البرامج التربوية والمناهج القيمية لمبادرة «ينابيع» وتطبيقها.</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1"/>
                          </a:solidFill>
                        </a:rPr>
                        <a:t>قسم البرامج القيمية والتربوية</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r>
              <a:tr h="658368">
                <a:tc>
                  <a:txBody>
                    <a:bodyPr/>
                    <a:lstStyle/>
                    <a:p>
                      <a:pPr rtl="1" algn="r" indent="0" marL="0">
                        <a:buNone/>
                      </a:pPr>
                      <a:r>
                        <a:rPr lang="en-US" sz="1500" dirty="0">
                          <a:solidFill>
                            <a:schemeClr val="accent5"/>
                          </a:solidFill>
                        </a:rPr>
                        <a:t>بناء شبكة العلاقات المؤسسية والأنشطة المشتركة بين الجمعيات.</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2"/>
                    </a:solidFill>
                  </a:tcPr>
                </a:tc>
                <a:tc>
                  <a:txBody>
                    <a:bodyPr/>
                    <a:lstStyle/>
                    <a:p>
                      <a:pPr rtl="1" algn="r" indent="0" marL="0">
                        <a:buNone/>
                      </a:pPr>
                      <a:r>
                        <a:rPr lang="en-US" sz="1500" b="1" dirty="0">
                          <a:solidFill>
                            <a:schemeClr val="tx1"/>
                          </a:solidFill>
                        </a:rPr>
                        <a:t>قسم التنسيق والعلاقات بين الجمعيات</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2"/>
                    </a:solidFill>
                  </a:tcPr>
                </a:tc>
              </a:tr>
              <a:tr h="658368">
                <a:tc>
                  <a:txBody>
                    <a:bodyPr/>
                    <a:lstStyle/>
                    <a:p>
                      <a:pPr rtl="1" algn="r" indent="0" marL="0">
                        <a:buNone/>
                      </a:pPr>
                      <a:r>
                        <a:rPr lang="en-US" sz="1500" dirty="0">
                          <a:solidFill>
                            <a:schemeClr val="accent5"/>
                          </a:solidFill>
                        </a:rPr>
                        <a:t>إدارة دورات التدريب المهني ومنصات التوظيف والمشاريع الصغرى ضمن «منافع».</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1"/>
                          </a:solidFill>
                        </a:rPr>
                        <a:t>قسم التأهيل المهني والتوظيف</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r>
              <a:tr h="658368">
                <a:tc>
                  <a:txBody>
                    <a:bodyPr/>
                    <a:lstStyle/>
                    <a:p>
                      <a:pPr rtl="1" algn="r" indent="0" marL="0">
                        <a:buNone/>
                      </a:pPr>
                      <a:r>
                        <a:rPr lang="en-US" sz="1500" dirty="0">
                          <a:solidFill>
                            <a:schemeClr val="accent5"/>
                          </a:solidFill>
                        </a:rPr>
                        <a:t>المسح الميداني والدعم الاجتماعي المباشر للأسر والطلاب.</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2"/>
                    </a:solidFill>
                  </a:tcPr>
                </a:tc>
                <a:tc>
                  <a:txBody>
                    <a:bodyPr/>
                    <a:lstStyle/>
                    <a:p>
                      <a:pPr rtl="1" algn="r" indent="0" marL="0">
                        <a:buNone/>
                      </a:pPr>
                      <a:r>
                        <a:rPr lang="en-US" sz="1500" b="1" dirty="0">
                          <a:solidFill>
                            <a:schemeClr val="tx1"/>
                          </a:solidFill>
                        </a:rPr>
                        <a:t>قسم التكافل والتضامن الاجتماعي</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2"/>
                    </a:solidFill>
                  </a:tcPr>
                </a:tc>
              </a:tr>
              <a:tr h="658368">
                <a:tc>
                  <a:txBody>
                    <a:bodyPr/>
                    <a:lstStyle/>
                    <a:p>
                      <a:pPr rtl="1" algn="r" indent="0" marL="0">
                        <a:buNone/>
                      </a:pPr>
                      <a:r>
                        <a:rPr lang="en-US" sz="1500" dirty="0">
                          <a:solidFill>
                            <a:schemeClr val="accent5"/>
                          </a:solidFill>
                        </a:rPr>
                        <a:t>البحث الميداني ومتابعة جودة الأداء وإدارة المطبوعات وتشغيل المنشآت الاقتصادية.</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1"/>
                          </a:solidFill>
                        </a:rPr>
                        <a:t>قسم الدراسات والتخطيط والاستثمار الاجتماعي</a:t>
                      </a:r>
                      <a:endParaRPr lang="en-US" sz="1500" dirty="0"/>
                    </a:p>
                  </a:txBody>
                  <a:tcPr marL="152400" marR="152400" marT="76200" marB="76200" anchor="ctr">
                    <a:lnL w="9525" cap="flat" cmpd="sng" algn="ctr">
                      <a:solidFill>
                        <a:srgbClr val="E1E6E4"/>
                      </a:solidFill>
                      <a:prstDash val="solid"/>
                      <a:round/>
                      <a:headEnd type="none" w="med" len="med"/>
                      <a:tailEnd type="none" w="med" len="med"/>
                    </a:lnL>
                    <a:lnR w="9525" cap="flat" cmpd="sng" algn="ctr">
                      <a:solidFill>
                        <a:srgbClr val="E1E6E4"/>
                      </a:solidFill>
                      <a:prstDash val="solid"/>
                      <a:round/>
                      <a:headEnd type="none" w="med" len="med"/>
                      <a:tailEnd type="none" w="med" len="med"/>
                    </a:lnR>
                    <a:lnT w="9525" cap="flat" cmpd="sng" algn="ctr">
                      <a:solidFill>
                        <a:srgbClr val="E1E6E4"/>
                      </a:solidFill>
                      <a:prstDash val="solid"/>
                      <a:round/>
                      <a:headEnd type="none" w="med" len="med"/>
                      <a:tailEnd type="none" w="med" len="med"/>
                    </a:lnT>
                    <a:lnB w="9525" cap="flat" cmpd="sng" algn="ctr">
                      <a:solidFill>
                        <a:srgbClr val="E1E6E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nodeType="withEffect">
                                  <p:stCondLst>
                                    <p:cond delay="24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decel="100000" fill="hold"/>
                                        <p:tgtEl>
                                          <p:spTgt spid="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5 · خطة مرحلية محسوبة تضمن الجودة ونقل الخبرة</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البرنامج الزمني للتوسع الجغرافي</a:t>
            </a:r>
            <a:endParaRPr lang="ar-SA" sz="3400" dirty="0"/>
          </a:p>
        </p:txBody>
      </p:sp>
      <p:sp>
        <p:nvSpPr>
          <p:cNvPr id="4" name="Text 2"/>
          <p:cNvSpPr txBox="1"/>
          <p:nvPr/>
        </p:nvSpPr>
        <p:spPr>
          <a:xfrm>
            <a:off x="548640" y="1554480"/>
            <a:ext cx="11094415" cy="411480"/>
          </a:xfrm>
          <a:prstGeom prst="rect">
            <a:avLst/>
          </a:prstGeom>
          <a:noFill/>
          <a:ln/>
        </p:spPr>
        <p:txBody>
          <a:bodyPr wrap="square" lIns="0" tIns="0" rIns="0" bIns="0" rtlCol="0" anchor="ctr"/>
          <a:lstStyle/>
          <a:p>
            <a:pPr rtl="1" algn="r" indent="0" marL="0">
              <a:buNone/>
            </a:pPr>
            <a:r>
              <a:rPr lang="ar-SA" altLang="en-US" sz="1800" b="1" dirty="0">
                <a:solidFill>
                  <a:schemeClr val="accent4"/>
                </a:solidFill>
              </a:rPr>
              <a:t>7 مراحل · من إسطنبول إلى العالم</a:t>
            </a:r>
            <a:endParaRPr lang="ar-SA" sz="1800" dirty="0"/>
          </a:p>
        </p:txBody>
      </p:sp>
      <p:sp>
        <p:nvSpPr>
          <p:cNvPr id="5" name="bg line"/>
          <p:cNvSpPr/>
          <p:nvPr/>
        </p:nvSpPr>
        <p:spPr>
          <a:xfrm>
            <a:off x="731520" y="2514600"/>
            <a:ext cx="10728655" cy="0"/>
          </a:xfrm>
          <a:prstGeom prst="line">
            <a:avLst/>
          </a:prstGeom>
          <a:noFill/>
          <a:ln w="25400">
            <a:solidFill>
              <a:srgbClr val="25425C"/>
            </a:solidFill>
            <a:prstDash val="solid"/>
          </a:ln>
        </p:spPr>
      </p:sp>
      <p:sp>
        <p:nvSpPr>
          <p:cNvPr id="6" name="card"/>
          <p:cNvSpPr txBox="1"/>
          <p:nvPr/>
        </p:nvSpPr>
        <p:spPr>
          <a:xfrm>
            <a:off x="10199218"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3"/>
                </a:solidFill>
              </a:rPr>
              <a:t>المرحلة 1</a:t>
            </a:r>
            <a:endParaRPr lang="ar-SA" sz="1300" dirty="0"/>
          </a:p>
          <a:p>
            <a:pPr rtl="1" algn="r" indent="0" marL="0">
              <a:spcAft>
                <a:spcPts val="600"/>
              </a:spcAft>
              <a:buNone/>
            </a:pPr>
            <a:r>
              <a:rPr lang="ar-SA" altLang="en-US" sz="1600" b="1" dirty="0">
                <a:solidFill>
                  <a:schemeClr val="bg1"/>
                </a:solidFill>
              </a:rPr>
              <a:t>إسطنبول</a:t>
            </a:r>
            <a:endParaRPr lang="ar-SA" sz="1300" dirty="0"/>
          </a:p>
          <a:p>
            <a:pPr rtl="1" algn="r" indent="0" marL="0">
              <a:spcAft>
                <a:spcPts val="600"/>
              </a:spcAft>
              <a:buNone/>
            </a:pPr>
            <a:r>
              <a:rPr lang="ar-SA" altLang="en-US" sz="1300" dirty="0">
                <a:solidFill>
                  <a:schemeClr val="accent6"/>
                </a:solidFill>
              </a:rPr>
              <a:t>التأسيس وبناء النموذج التشغيلي المعياري واختبار المبادرات.</a:t>
            </a:r>
            <a:endParaRPr lang="ar-SA" sz="1300" dirty="0"/>
          </a:p>
        </p:txBody>
      </p:sp>
      <p:sp>
        <p:nvSpPr>
          <p:cNvPr id="7" name="card"/>
          <p:cNvSpPr txBox="1"/>
          <p:nvPr/>
        </p:nvSpPr>
        <p:spPr>
          <a:xfrm>
            <a:off x="8590788"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3"/>
                </a:solidFill>
              </a:rPr>
              <a:t>المرحلة 2</a:t>
            </a:r>
            <a:endParaRPr lang="ar-SA" sz="1300" dirty="0"/>
          </a:p>
          <a:p>
            <a:pPr rtl="1" algn="r" indent="0" marL="0">
              <a:spcAft>
                <a:spcPts val="600"/>
              </a:spcAft>
              <a:buNone/>
            </a:pPr>
            <a:r>
              <a:rPr lang="ar-SA" altLang="en-US" sz="1600" b="1" dirty="0">
                <a:solidFill>
                  <a:schemeClr val="bg1"/>
                </a:solidFill>
              </a:rPr>
              <a:t>أنقرة</a:t>
            </a:r>
            <a:endParaRPr lang="ar-SA" sz="1300" dirty="0"/>
          </a:p>
          <a:p>
            <a:pPr rtl="1" algn="r" indent="0" marL="0">
              <a:spcAft>
                <a:spcPts val="600"/>
              </a:spcAft>
              <a:buNone/>
            </a:pPr>
            <a:r>
              <a:rPr lang="ar-SA" altLang="en-US" sz="1300" dirty="0">
                <a:solidFill>
                  <a:schemeClr val="accent6"/>
                </a:solidFill>
              </a:rPr>
              <a:t>تعزيز الحضور في العاصمة وبناء الشراكات المركزية مع المؤسسات الرسمية.</a:t>
            </a:r>
            <a:endParaRPr lang="ar-SA" sz="1300" dirty="0"/>
          </a:p>
        </p:txBody>
      </p:sp>
      <p:sp>
        <p:nvSpPr>
          <p:cNvPr id="8" name="card"/>
          <p:cNvSpPr txBox="1"/>
          <p:nvPr/>
        </p:nvSpPr>
        <p:spPr>
          <a:xfrm>
            <a:off x="6982358"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3"/>
                </a:solidFill>
              </a:rPr>
              <a:t>المرحلة 3</a:t>
            </a:r>
            <a:endParaRPr lang="ar-SA" sz="1300" dirty="0"/>
          </a:p>
          <a:p>
            <a:pPr rtl="1" algn="r" indent="0" marL="0">
              <a:spcAft>
                <a:spcPts val="600"/>
              </a:spcAft>
              <a:buNone/>
            </a:pPr>
            <a:r>
              <a:rPr lang="ar-SA" altLang="en-US" sz="1600" b="1" dirty="0">
                <a:solidFill>
                  <a:schemeClr val="bg1"/>
                </a:solidFill>
              </a:rPr>
              <a:t>أكبر 10 ولايات تركية</a:t>
            </a:r>
            <a:endParaRPr lang="ar-SA" sz="1300" dirty="0"/>
          </a:p>
          <a:p>
            <a:pPr rtl="1" algn="r" indent="0" marL="0">
              <a:spcAft>
                <a:spcPts val="600"/>
              </a:spcAft>
              <a:buNone/>
            </a:pPr>
            <a:r>
              <a:rPr lang="ar-SA" altLang="en-US" sz="1300" dirty="0">
                <a:solidFill>
                  <a:schemeClr val="accent6"/>
                </a:solidFill>
              </a:rPr>
              <a:t>نشر النموذج وتغطية الكثافات السكانية الكبرى عبر فروع ومكاتب تمثيلية.</a:t>
            </a:r>
            <a:endParaRPr lang="ar-SA" sz="1300" dirty="0"/>
          </a:p>
        </p:txBody>
      </p:sp>
      <p:sp>
        <p:nvSpPr>
          <p:cNvPr id="9" name="card"/>
          <p:cNvSpPr txBox="1"/>
          <p:nvPr/>
        </p:nvSpPr>
        <p:spPr>
          <a:xfrm>
            <a:off x="5373929"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3"/>
                </a:solidFill>
              </a:rPr>
              <a:t>المرحلة 4</a:t>
            </a:r>
            <a:endParaRPr lang="ar-SA" sz="1300" dirty="0"/>
          </a:p>
          <a:p>
            <a:pPr rtl="1" algn="r" indent="0" marL="0">
              <a:spcAft>
                <a:spcPts val="600"/>
              </a:spcAft>
              <a:buNone/>
            </a:pPr>
            <a:r>
              <a:rPr lang="ar-SA" altLang="en-US" sz="1600" b="1" dirty="0">
                <a:solidFill>
                  <a:schemeClr val="bg1"/>
                </a:solidFill>
              </a:rPr>
              <a:t>كافة الولايات التركية</a:t>
            </a:r>
            <a:endParaRPr lang="ar-SA" sz="1300" dirty="0"/>
          </a:p>
          <a:p>
            <a:pPr rtl="1" algn="r" indent="0" marL="0">
              <a:spcAft>
                <a:spcPts val="600"/>
              </a:spcAft>
              <a:buNone/>
            </a:pPr>
            <a:r>
              <a:rPr lang="ar-SA" altLang="en-US" sz="1300" dirty="0">
                <a:solidFill>
                  <a:schemeClr val="accent6"/>
                </a:solidFill>
              </a:rPr>
              <a:t>تحقيق التغطية الوطنية الشاملة.</a:t>
            </a:r>
            <a:endParaRPr lang="ar-SA" sz="1300" dirty="0"/>
          </a:p>
        </p:txBody>
      </p:sp>
      <p:sp>
        <p:nvSpPr>
          <p:cNvPr id="10" name="card"/>
          <p:cNvSpPr txBox="1"/>
          <p:nvPr/>
        </p:nvSpPr>
        <p:spPr>
          <a:xfrm>
            <a:off x="3765499"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4"/>
                </a:solidFill>
              </a:rPr>
              <a:t>المرحلة 5</a:t>
            </a:r>
            <a:endParaRPr lang="ar-SA" sz="1300" dirty="0"/>
          </a:p>
          <a:p>
            <a:pPr rtl="1" algn="r" indent="0" marL="0">
              <a:spcAft>
                <a:spcPts val="600"/>
              </a:spcAft>
              <a:buNone/>
            </a:pPr>
            <a:r>
              <a:rPr lang="ar-SA" altLang="en-US" sz="1600" b="1" dirty="0">
                <a:solidFill>
                  <a:schemeClr val="bg1"/>
                </a:solidFill>
              </a:rPr>
              <a:t>أهم 10 دول إسلامية</a:t>
            </a:r>
            <a:endParaRPr lang="ar-SA" sz="1300" dirty="0"/>
          </a:p>
          <a:p>
            <a:pPr rtl="1" algn="r" indent="0" marL="0">
              <a:spcAft>
                <a:spcPts val="600"/>
              </a:spcAft>
              <a:buNone/>
            </a:pPr>
            <a:r>
              <a:rPr lang="ar-SA" altLang="en-US" sz="1300" dirty="0">
                <a:solidFill>
                  <a:schemeClr val="accent6"/>
                </a:solidFill>
              </a:rPr>
              <a:t>نقل التجربة وتأسيس شراكات إقليمية لتصدير الحقائب القيمية والتنموية.</a:t>
            </a:r>
            <a:endParaRPr lang="ar-SA" sz="1300" dirty="0"/>
          </a:p>
        </p:txBody>
      </p:sp>
      <p:sp>
        <p:nvSpPr>
          <p:cNvPr id="11" name="card"/>
          <p:cNvSpPr txBox="1"/>
          <p:nvPr/>
        </p:nvSpPr>
        <p:spPr>
          <a:xfrm>
            <a:off x="2157070"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4"/>
                </a:solidFill>
              </a:rPr>
              <a:t>المرحلة 6</a:t>
            </a:r>
            <a:endParaRPr lang="ar-SA" sz="1300" dirty="0"/>
          </a:p>
          <a:p>
            <a:pPr rtl="1" algn="r" indent="0" marL="0">
              <a:spcAft>
                <a:spcPts val="600"/>
              </a:spcAft>
              <a:buNone/>
            </a:pPr>
            <a:r>
              <a:rPr lang="ar-SA" altLang="en-US" sz="1600" b="1" dirty="0">
                <a:solidFill>
                  <a:schemeClr val="bg1"/>
                </a:solidFill>
              </a:rPr>
              <a:t>باقي الدول الإسلامية</a:t>
            </a:r>
            <a:endParaRPr lang="ar-SA" sz="1300" dirty="0"/>
          </a:p>
          <a:p>
            <a:pPr rtl="1" algn="r" indent="0" marL="0">
              <a:spcAft>
                <a:spcPts val="600"/>
              </a:spcAft>
              <a:buNone/>
            </a:pPr>
            <a:r>
              <a:rPr lang="ar-SA" altLang="en-US" sz="1300" dirty="0">
                <a:solidFill>
                  <a:schemeClr val="accent6"/>
                </a:solidFill>
              </a:rPr>
              <a:t>تعميق الأثر وتفعيل التكافل والتكامل التنموي الإسلامي.</a:t>
            </a:r>
            <a:endParaRPr lang="ar-SA" sz="1300" dirty="0"/>
          </a:p>
        </p:txBody>
      </p:sp>
      <p:sp>
        <p:nvSpPr>
          <p:cNvPr id="12" name="card"/>
          <p:cNvSpPr txBox="1"/>
          <p:nvPr/>
        </p:nvSpPr>
        <p:spPr>
          <a:xfrm>
            <a:off x="548640" y="2194560"/>
            <a:ext cx="1443838" cy="3931920"/>
          </a:xfrm>
          <a:prstGeom prst="roundRect">
            <a:avLst>
              <a:gd name="adj" fmla="val 7600"/>
            </a:avLst>
          </a:prstGeom>
          <a:solidFill>
            <a:srgbClr val="17293A"/>
          </a:solidFill>
          <a:ln w="9525">
            <a:solidFill>
              <a:srgbClr val="25425C"/>
            </a:solidFill>
          </a:ln>
        </p:spPr>
        <p:txBody>
          <a:bodyPr wrap="square" lIns="152400" tIns="127000" rIns="127000" bIns="152400" rtlCol="0" anchor="t"/>
          <a:lstStyle/>
          <a:p>
            <a:pPr rtl="1" algn="r" indent="0" marL="0">
              <a:spcAft>
                <a:spcPts val="600"/>
              </a:spcAft>
              <a:buNone/>
            </a:pPr>
            <a:r>
              <a:rPr lang="ar-SA" altLang="en-US" sz="1300" b="1" dirty="0">
                <a:solidFill>
                  <a:schemeClr val="accent4"/>
                </a:solidFill>
              </a:rPr>
              <a:t>المرحلة 7</a:t>
            </a:r>
            <a:endParaRPr lang="ar-SA" sz="1300" dirty="0"/>
          </a:p>
          <a:p>
            <a:pPr rtl="1" algn="r" indent="0" marL="0">
              <a:spcAft>
                <a:spcPts val="600"/>
              </a:spcAft>
              <a:buNone/>
            </a:pPr>
            <a:r>
              <a:rPr lang="ar-SA" altLang="en-US" sz="1600" b="1" dirty="0">
                <a:solidFill>
                  <a:schemeClr val="bg1"/>
                </a:solidFill>
              </a:rPr>
              <a:t>الدول ذات الأهمية العالمية</a:t>
            </a:r>
            <a:endParaRPr lang="ar-SA" sz="1300" dirty="0"/>
          </a:p>
          <a:p>
            <a:pPr rtl="1" algn="r" indent="0" marL="0">
              <a:spcAft>
                <a:spcPts val="600"/>
              </a:spcAft>
              <a:buNone/>
            </a:pPr>
            <a:r>
              <a:rPr lang="ar-SA" altLang="en-US" sz="1300" dirty="0">
                <a:solidFill>
                  <a:schemeClr val="accent6"/>
                </a:solidFill>
              </a:rPr>
              <a:t>التواصل مع الجاليات والمجتمعات العالمية وبناء نموذج عمل إنساني وقيمي عالمي.</a:t>
            </a:r>
            <a:endParaRPr lang="ar-SA"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9</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42" presetClass="entr" presetSubtype="0" fill="hold" grpId="0" nodeType="withEffect">
                                  <p:stCondLst>
                                    <p:cond delay="3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decel="1000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48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decel="100000" fill="hold"/>
                                        <p:tgtEl>
                                          <p:spTgt spid="7"/>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anim calcmode="lin" valueType="num">
                                      <p:cBhvr>
                                        <p:cTn id="25" dur="500" decel="100000" fill="hold"/>
                                        <p:tgtEl>
                                          <p:spTgt spid="8"/>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72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decel="100000" fill="hold"/>
                                        <p:tgtEl>
                                          <p:spTgt spid="9"/>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84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p:cTn id="33" dur="500" decel="1000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96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anim calcmode="lin" valueType="num">
                                      <p:cBhvr>
                                        <p:cTn id="37" dur="50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08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decel="100000" fill="hold"/>
                                        <p:tgtEl>
                                          <p:spTgt spid="1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6 · لمن نعمل</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الفئات والمؤسسات المستهدفة</a:t>
            </a:r>
            <a:endParaRPr lang="ar-SA" sz="3400" dirty="0"/>
          </a:p>
        </p:txBody>
      </p:sp>
      <p:sp>
        <p:nvSpPr>
          <p:cNvPr id="4" name="card"/>
          <p:cNvSpPr txBox="1"/>
          <p:nvPr/>
        </p:nvSpPr>
        <p:spPr>
          <a:xfrm>
            <a:off x="8153248" y="1828800"/>
            <a:ext cx="348980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200" b="1" dirty="0">
                <a:solidFill>
                  <a:schemeClr val="accent1"/>
                </a:solidFill>
              </a:rPr>
              <a:t>الجمعيات والمنظمات الأهلية</a:t>
            </a:r>
            <a:endParaRPr lang="ar-SA" sz="2200" dirty="0"/>
          </a:p>
          <a:p>
            <a:pPr rtl="1" algn="r" indent="0" marL="0">
              <a:spcAft>
                <a:spcPts val="600"/>
              </a:spcAft>
              <a:buNone/>
            </a:pPr>
            <a:r>
              <a:rPr lang="ar-SA" altLang="en-US" sz="1800" dirty="0">
                <a:solidFill>
                  <a:schemeClr val="accent5"/>
                </a:solidFill>
              </a:rPr>
              <a:t>التنسيق وتكامل الموارد والخبرات والأنشطة المشتركة.</a:t>
            </a:r>
            <a:endParaRPr lang="ar-SA" sz="2200" dirty="0"/>
          </a:p>
        </p:txBody>
      </p:sp>
      <p:sp>
        <p:nvSpPr>
          <p:cNvPr id="5" name="card"/>
          <p:cNvSpPr txBox="1"/>
          <p:nvPr/>
        </p:nvSpPr>
        <p:spPr>
          <a:xfrm>
            <a:off x="4389120" y="1828800"/>
            <a:ext cx="348980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200" b="1" dirty="0">
                <a:solidFill>
                  <a:schemeClr val="accent1"/>
                </a:solidFill>
              </a:rPr>
              <a:t>الشباب والباحثون عن عمل</a:t>
            </a:r>
            <a:endParaRPr lang="ar-SA" sz="2200" dirty="0"/>
          </a:p>
          <a:p>
            <a:pPr rtl="1" algn="r" indent="0" marL="0">
              <a:spcAft>
                <a:spcPts val="600"/>
              </a:spcAft>
              <a:buNone/>
            </a:pPr>
            <a:r>
              <a:rPr lang="ar-SA" altLang="en-US" sz="1800" dirty="0">
                <a:solidFill>
                  <a:schemeClr val="accent5"/>
                </a:solidFill>
              </a:rPr>
              <a:t>التأهيل المهني والتدريب والربط بسوق العمل والتوظيف.</a:t>
            </a:r>
            <a:endParaRPr lang="ar-SA" sz="2200" dirty="0"/>
          </a:p>
        </p:txBody>
      </p:sp>
      <p:sp>
        <p:nvSpPr>
          <p:cNvPr id="6" name="card"/>
          <p:cNvSpPr txBox="1"/>
          <p:nvPr/>
        </p:nvSpPr>
        <p:spPr>
          <a:xfrm>
            <a:off x="8153248" y="4069080"/>
            <a:ext cx="348980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200" b="1" dirty="0">
                <a:solidFill>
                  <a:schemeClr val="accent1"/>
                </a:solidFill>
              </a:rPr>
              <a:t>الأسر والأطفال والنساء</a:t>
            </a:r>
            <a:endParaRPr lang="ar-SA" sz="2200" dirty="0"/>
          </a:p>
          <a:p>
            <a:pPr rtl="1" algn="r" indent="0" marL="0">
              <a:spcAft>
                <a:spcPts val="600"/>
              </a:spcAft>
              <a:buNone/>
            </a:pPr>
            <a:r>
              <a:rPr lang="ar-SA" altLang="en-US" sz="1800" dirty="0">
                <a:solidFill>
                  <a:schemeClr val="accent5"/>
                </a:solidFill>
              </a:rPr>
              <a:t>البناء القيمي والإرشاد الأسري والتمكين الإنتاجي.</a:t>
            </a:r>
            <a:endParaRPr lang="ar-SA" sz="2200" dirty="0"/>
          </a:p>
        </p:txBody>
      </p:sp>
      <p:sp>
        <p:nvSpPr>
          <p:cNvPr id="7" name="card"/>
          <p:cNvSpPr txBox="1"/>
          <p:nvPr/>
        </p:nvSpPr>
        <p:spPr>
          <a:xfrm>
            <a:off x="4389120" y="4069080"/>
            <a:ext cx="3489808" cy="1965960"/>
          </a:xfrm>
          <a:prstGeom prst="roundRect">
            <a:avLst>
              <a:gd name="adj" fmla="val 5581"/>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200" b="1" dirty="0">
                <a:solidFill>
                  <a:schemeClr val="accent1"/>
                </a:solidFill>
              </a:rPr>
              <a:t>مؤسسات الدولة والمجتمع</a:t>
            </a:r>
            <a:endParaRPr lang="ar-SA" sz="2200" dirty="0"/>
          </a:p>
          <a:p>
            <a:pPr rtl="1" algn="r" indent="0" marL="0">
              <a:spcAft>
                <a:spcPts val="600"/>
              </a:spcAft>
              <a:buNone/>
            </a:pPr>
            <a:r>
              <a:rPr lang="ar-SA" altLang="en-US" sz="1800" dirty="0">
                <a:solidFill>
                  <a:schemeClr val="accent5"/>
                </a:solidFill>
              </a:rPr>
              <a:t>الشراكة الاقتصادية والاجتماعية ومساندة خطط التنمية.</a:t>
            </a:r>
            <a:endParaRPr lang="ar-SA" sz="2200" dirty="0"/>
          </a:p>
        </p:txBody>
      </p:sp>
      <p:pic>
        <p:nvPicPr>
          <p:cNvPr id="8" name="photo" descr="/home/user/-/site/assets/img/youth.jpg">    </p:cNvPr>
          <p:cNvPicPr>
            <a:picLocks noChangeAspect="1"/>
          </p:cNvPicPr>
          <p:nvPr/>
        </p:nvPicPr>
        <p:blipFill>
          <a:blip r:embed="rId1"/>
          <a:srcRect l="0" r="0" t="0" b="0"/>
          <a:stretch/>
        </p:blipFill>
        <p:spPr>
          <a:xfrm>
            <a:off x="548640" y="1828800"/>
            <a:ext cx="3566160" cy="4206240"/>
          </a:xfrm>
          <a:prstGeom prst="rect">
            <a:avLst/>
          </a:prstGeom>
        </p:spPr>
      </p:pic>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10</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par>
                                <p:cTn id="27" presetID="42" presetClass="entr" presetSubtype="0" fill="hold" nodeType="withEffect">
                                  <p:stCondLst>
                                    <p:cond delay="7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7 · الهيكل التنظيمي وآليات اتخاذ القرار</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الهيكل الإداري والحوكمة المؤسسية</a:t>
            </a:r>
            <a:endParaRPr lang="ar-SA" sz="3400" dirty="0"/>
          </a:p>
        </p:txBody>
      </p:sp>
      <p:sp>
        <p:nvSpPr>
          <p:cNvPr id="4" name="card"/>
          <p:cNvSpPr txBox="1"/>
          <p:nvPr/>
        </p:nvSpPr>
        <p:spPr>
          <a:xfrm>
            <a:off x="8127797" y="1783080"/>
            <a:ext cx="3515258" cy="4343400"/>
          </a:xfrm>
          <a:prstGeom prst="roundRect">
            <a:avLst>
              <a:gd name="adj" fmla="val 3121"/>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3000" b="1" dirty="0">
                <a:solidFill>
                  <a:schemeClr val="accent3"/>
                </a:solidFill>
              </a:rPr>
              <a:t>جميع الأعضاء</a:t>
            </a:r>
            <a:endParaRPr lang="ar-SA" sz="3000" dirty="0"/>
          </a:p>
          <a:p>
            <a:pPr rtl="1" algn="r" indent="0" marL="0">
              <a:spcAft>
                <a:spcPts val="600"/>
              </a:spcAft>
              <a:buNone/>
            </a:pPr>
            <a:r>
              <a:rPr lang="ar-SA" altLang="en-US" sz="2200" b="1" dirty="0">
                <a:solidFill>
                  <a:schemeClr val="bg1"/>
                </a:solidFill>
              </a:rPr>
              <a:t>الجمعية العمومية</a:t>
            </a:r>
            <a:endParaRPr lang="ar-SA" sz="3000" dirty="0"/>
          </a:p>
          <a:p>
            <a:pPr rtl="1" algn="r" indent="0" marL="0">
              <a:spcAft>
                <a:spcPts val="600"/>
              </a:spcAft>
              <a:buNone/>
            </a:pPr>
            <a:r>
              <a:rPr lang="ar-SA" altLang="en-US" sz="1300" dirty="0">
                <a:solidFill>
                  <a:srgbClr val="9FB3C2"/>
                </a:solidFill>
              </a:rPr>
              <a:t>Genel Kurul</a:t>
            </a:r>
            <a:endParaRPr lang="ar-SA" sz="3000" dirty="0"/>
          </a:p>
          <a:p>
            <a:pPr rtl="1" algn="r" indent="0" marL="0">
              <a:spcAft>
                <a:spcPts val="600"/>
              </a:spcAft>
              <a:buNone/>
            </a:pPr>
            <a:r>
              <a:rPr lang="ar-SA" altLang="en-US" sz="1800" dirty="0">
                <a:solidFill>
                  <a:schemeClr val="accent6"/>
                </a:solidFill>
              </a:rPr>
              <a:t>السلطة العليا في الجمعية؛ تجتمع اجتماعاً عادياً كل 3 سنوات في شهر أبريل، وتختص بتعديل النظام الأساسي وإقرار السياسات العامة والتصويت.</a:t>
            </a:r>
            <a:endParaRPr lang="ar-SA" sz="3000" dirty="0"/>
          </a:p>
        </p:txBody>
      </p:sp>
      <p:sp>
        <p:nvSpPr>
          <p:cNvPr id="5" name="card"/>
          <p:cNvSpPr txBox="1"/>
          <p:nvPr/>
        </p:nvSpPr>
        <p:spPr>
          <a:xfrm>
            <a:off x="4338218" y="1783080"/>
            <a:ext cx="3515258" cy="4343400"/>
          </a:xfrm>
          <a:prstGeom prst="roundRect">
            <a:avLst>
              <a:gd name="adj" fmla="val 3121"/>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3000" b="1" dirty="0">
                <a:solidFill>
                  <a:schemeClr val="accent4"/>
                </a:solidFill>
              </a:rPr>
              <a:t>5 + 5</a:t>
            </a:r>
            <a:endParaRPr lang="ar-SA" sz="3000" dirty="0"/>
          </a:p>
          <a:p>
            <a:pPr rtl="1" algn="r" indent="0" marL="0">
              <a:spcAft>
                <a:spcPts val="600"/>
              </a:spcAft>
              <a:buNone/>
            </a:pPr>
            <a:r>
              <a:rPr lang="ar-SA" altLang="en-US" sz="2200" b="1" dirty="0">
                <a:solidFill>
                  <a:schemeClr val="bg1"/>
                </a:solidFill>
              </a:rPr>
              <a:t>مجلس الإدارة</a:t>
            </a:r>
            <a:endParaRPr lang="ar-SA" sz="3000" dirty="0"/>
          </a:p>
          <a:p>
            <a:pPr rtl="1" algn="r" indent="0" marL="0">
              <a:spcAft>
                <a:spcPts val="600"/>
              </a:spcAft>
              <a:buNone/>
            </a:pPr>
            <a:r>
              <a:rPr lang="ar-SA" altLang="en-US" sz="1300" dirty="0">
                <a:solidFill>
                  <a:srgbClr val="9FB3C2"/>
                </a:solidFill>
              </a:rPr>
              <a:t>Yönetim Kurulu</a:t>
            </a:r>
            <a:endParaRPr lang="ar-SA" sz="3000" dirty="0"/>
          </a:p>
          <a:p>
            <a:pPr rtl="1" algn="r" indent="0" marL="0">
              <a:spcAft>
                <a:spcPts val="600"/>
              </a:spcAft>
              <a:buNone/>
            </a:pPr>
            <a:r>
              <a:rPr lang="ar-SA" altLang="en-US" sz="1800" dirty="0">
                <a:solidFill>
                  <a:schemeClr val="accent6"/>
                </a:solidFill>
              </a:rPr>
              <a:t>5 أعضاء أساسيين و5 احتياط. السلطة التنفيذية الممثلة للجمعية: يدير الأنشطة ويشكّل اللجان ويشرف على «ينابيع» و«منافع» ويؤسس المنشآت الاقتصادية.</a:t>
            </a:r>
            <a:endParaRPr lang="ar-SA" sz="3000" dirty="0"/>
          </a:p>
        </p:txBody>
      </p:sp>
      <p:sp>
        <p:nvSpPr>
          <p:cNvPr id="6" name="card"/>
          <p:cNvSpPr txBox="1"/>
          <p:nvPr/>
        </p:nvSpPr>
        <p:spPr>
          <a:xfrm>
            <a:off x="548640" y="1783080"/>
            <a:ext cx="3515258" cy="4343400"/>
          </a:xfrm>
          <a:prstGeom prst="roundRect">
            <a:avLst>
              <a:gd name="adj" fmla="val 3121"/>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3000" b="1" dirty="0">
                <a:solidFill>
                  <a:schemeClr val="accent3"/>
                </a:solidFill>
              </a:rPr>
              <a:t>3 + 3</a:t>
            </a:r>
            <a:endParaRPr lang="ar-SA" sz="3000" dirty="0"/>
          </a:p>
          <a:p>
            <a:pPr rtl="1" algn="r" indent="0" marL="0">
              <a:spcAft>
                <a:spcPts val="600"/>
              </a:spcAft>
              <a:buNone/>
            </a:pPr>
            <a:r>
              <a:rPr lang="ar-SA" altLang="en-US" sz="2200" b="1" dirty="0">
                <a:solidFill>
                  <a:schemeClr val="bg1"/>
                </a:solidFill>
              </a:rPr>
              <a:t>مجلس الرقابة</a:t>
            </a:r>
            <a:endParaRPr lang="ar-SA" sz="3000" dirty="0"/>
          </a:p>
          <a:p>
            <a:pPr rtl="1" algn="r" indent="0" marL="0">
              <a:spcAft>
                <a:spcPts val="600"/>
              </a:spcAft>
              <a:buNone/>
            </a:pPr>
            <a:r>
              <a:rPr lang="ar-SA" altLang="en-US" sz="1300" dirty="0">
                <a:solidFill>
                  <a:srgbClr val="9FB3C2"/>
                </a:solidFill>
              </a:rPr>
              <a:t>Denetim Kurulu</a:t>
            </a:r>
            <a:endParaRPr lang="ar-SA" sz="3000" dirty="0"/>
          </a:p>
          <a:p>
            <a:pPr rtl="1" algn="r" indent="0" marL="0">
              <a:spcAft>
                <a:spcPts val="600"/>
              </a:spcAft>
              <a:buNone/>
            </a:pPr>
            <a:r>
              <a:rPr lang="ar-SA" altLang="en-US" sz="1800" dirty="0">
                <a:solidFill>
                  <a:schemeClr val="accent6"/>
                </a:solidFill>
              </a:rPr>
              <a:t>3 أعضاء أساسيين و3 احتياط. يتولى الرقابة المالية والإدارية الدورية والتأكد من مطابقة الأعمال للقوانين والنظام الأساسي.</a:t>
            </a:r>
            <a:endParaRPr lang="ar-SA" sz="30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11</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7 · الحوكمة والإدارة وإجراءات العمل</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منهجية التطبيق الميداني (دورة العمل التنفيذية)</a:t>
            </a:r>
            <a:endParaRPr lang="ar-SA" sz="3400" dirty="0"/>
          </a:p>
        </p:txBody>
      </p:sp>
      <p:sp>
        <p:nvSpPr>
          <p:cNvPr id="4" name="card"/>
          <p:cNvSpPr txBox="1"/>
          <p:nvPr/>
        </p:nvSpPr>
        <p:spPr>
          <a:xfrm>
            <a:off x="9315221" y="2103120"/>
            <a:ext cx="2327834" cy="3108960"/>
          </a:xfrm>
          <a:prstGeom prst="roundRect">
            <a:avLst>
              <a:gd name="adj" fmla="val 4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4000" b="1" dirty="0">
                <a:solidFill>
                  <a:schemeClr val="accent1"/>
                </a:solidFill>
              </a:rPr>
              <a:t>1</a:t>
            </a:r>
            <a:endParaRPr lang="ar-SA" sz="4000" dirty="0"/>
          </a:p>
          <a:p>
            <a:pPr rtl="1" algn="r" indent="0" marL="0">
              <a:spcAft>
                <a:spcPts val="600"/>
              </a:spcAft>
              <a:buNone/>
            </a:pPr>
            <a:r>
              <a:rPr lang="ar-SA" altLang="en-US" sz="2000" b="1" dirty="0">
                <a:solidFill>
                  <a:schemeClr val="tx1"/>
                </a:solidFill>
              </a:rPr>
              <a:t>الدراسة والتقييم</a:t>
            </a:r>
            <a:endParaRPr lang="ar-SA" sz="4000" dirty="0"/>
          </a:p>
          <a:p>
            <a:pPr rtl="1" algn="r" indent="0" marL="0">
              <a:spcAft>
                <a:spcPts val="600"/>
              </a:spcAft>
              <a:buNone/>
            </a:pPr>
            <a:r>
              <a:rPr lang="ar-SA" altLang="en-US" sz="1700" dirty="0">
                <a:solidFill>
                  <a:schemeClr val="accent5"/>
                </a:solidFill>
              </a:rPr>
              <a:t>البحث الميداني وتحليل الاحتياجات المجتمعية</a:t>
            </a:r>
            <a:endParaRPr lang="ar-SA" sz="4000" dirty="0"/>
          </a:p>
        </p:txBody>
      </p:sp>
      <p:sp>
        <p:nvSpPr>
          <p:cNvPr id="5" name="arrow"/>
          <p:cNvSpPr/>
          <p:nvPr/>
        </p:nvSpPr>
        <p:spPr>
          <a:xfrm>
            <a:off x="8812301" y="3474720"/>
            <a:ext cx="411480" cy="365760"/>
          </a:xfrm>
          <a:prstGeom prst="leftArrow">
            <a:avLst/>
          </a:prstGeom>
          <a:solidFill>
            <a:schemeClr val="accent2"/>
          </a:solidFill>
          <a:ln/>
        </p:spPr>
      </p:sp>
      <p:sp>
        <p:nvSpPr>
          <p:cNvPr id="6" name="card"/>
          <p:cNvSpPr txBox="1"/>
          <p:nvPr/>
        </p:nvSpPr>
        <p:spPr>
          <a:xfrm>
            <a:off x="6393028" y="2103120"/>
            <a:ext cx="2327834" cy="3108960"/>
          </a:xfrm>
          <a:prstGeom prst="roundRect">
            <a:avLst>
              <a:gd name="adj" fmla="val 4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4000" b="1" dirty="0">
                <a:solidFill>
                  <a:schemeClr val="accent1"/>
                </a:solidFill>
              </a:rPr>
              <a:t>2</a:t>
            </a:r>
            <a:endParaRPr lang="ar-SA" sz="4000" dirty="0"/>
          </a:p>
          <a:p>
            <a:pPr rtl="1" algn="r" indent="0" marL="0">
              <a:spcAft>
                <a:spcPts val="600"/>
              </a:spcAft>
              <a:buNone/>
            </a:pPr>
            <a:r>
              <a:rPr lang="ar-SA" altLang="en-US" sz="2000" b="1" dirty="0">
                <a:solidFill>
                  <a:schemeClr val="tx1"/>
                </a:solidFill>
              </a:rPr>
              <a:t>التخطيط والشراكة</a:t>
            </a:r>
            <a:endParaRPr lang="ar-SA" sz="4000" dirty="0"/>
          </a:p>
          <a:p>
            <a:pPr rtl="1" algn="r" indent="0" marL="0">
              <a:spcAft>
                <a:spcPts val="600"/>
              </a:spcAft>
              <a:buNone/>
            </a:pPr>
            <a:r>
              <a:rPr lang="ar-SA" altLang="en-US" sz="1700" dirty="0">
                <a:solidFill>
                  <a:schemeClr val="accent5"/>
                </a:solidFill>
              </a:rPr>
              <a:t>تصميم المبادرات وعقد البروتوكولات مع الجهات المعنية</a:t>
            </a:r>
            <a:endParaRPr lang="ar-SA" sz="4000" dirty="0"/>
          </a:p>
        </p:txBody>
      </p:sp>
      <p:sp>
        <p:nvSpPr>
          <p:cNvPr id="7" name="arrow"/>
          <p:cNvSpPr/>
          <p:nvPr/>
        </p:nvSpPr>
        <p:spPr>
          <a:xfrm>
            <a:off x="5890108" y="3474720"/>
            <a:ext cx="411480" cy="365760"/>
          </a:xfrm>
          <a:prstGeom prst="leftArrow">
            <a:avLst/>
          </a:prstGeom>
          <a:solidFill>
            <a:schemeClr val="accent2"/>
          </a:solidFill>
          <a:ln/>
        </p:spPr>
      </p:sp>
      <p:sp>
        <p:nvSpPr>
          <p:cNvPr id="8" name="card"/>
          <p:cNvSpPr txBox="1"/>
          <p:nvPr/>
        </p:nvSpPr>
        <p:spPr>
          <a:xfrm>
            <a:off x="3470834" y="2103120"/>
            <a:ext cx="2327834" cy="3108960"/>
          </a:xfrm>
          <a:prstGeom prst="roundRect">
            <a:avLst>
              <a:gd name="adj" fmla="val 4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4000" b="1" dirty="0">
                <a:solidFill>
                  <a:schemeClr val="accent1"/>
                </a:solidFill>
              </a:rPr>
              <a:t>3</a:t>
            </a:r>
            <a:endParaRPr lang="ar-SA" sz="4000" dirty="0"/>
          </a:p>
          <a:p>
            <a:pPr rtl="1" algn="r" indent="0" marL="0">
              <a:spcAft>
                <a:spcPts val="600"/>
              </a:spcAft>
              <a:buNone/>
            </a:pPr>
            <a:r>
              <a:rPr lang="ar-SA" altLang="en-US" sz="2000" b="1" dirty="0">
                <a:solidFill>
                  <a:schemeClr val="tx1"/>
                </a:solidFill>
              </a:rPr>
              <a:t>التنفيذ الميداني</a:t>
            </a:r>
            <a:endParaRPr lang="ar-SA" sz="4000" dirty="0"/>
          </a:p>
          <a:p>
            <a:pPr rtl="1" algn="r" indent="0" marL="0">
              <a:spcAft>
                <a:spcPts val="600"/>
              </a:spcAft>
              <a:buNone/>
            </a:pPr>
            <a:r>
              <a:rPr lang="ar-SA" altLang="en-US" sz="1700" dirty="0">
                <a:solidFill>
                  <a:schemeClr val="accent5"/>
                </a:solidFill>
              </a:rPr>
              <a:t>إطلاق المشاريع عبر «ينابيع» و«منافع» واللجان</a:t>
            </a:r>
            <a:endParaRPr lang="ar-SA" sz="4000" dirty="0"/>
          </a:p>
        </p:txBody>
      </p:sp>
      <p:sp>
        <p:nvSpPr>
          <p:cNvPr id="9" name="arrow"/>
          <p:cNvSpPr/>
          <p:nvPr/>
        </p:nvSpPr>
        <p:spPr>
          <a:xfrm>
            <a:off x="2967914" y="3474720"/>
            <a:ext cx="411480" cy="365760"/>
          </a:xfrm>
          <a:prstGeom prst="leftArrow">
            <a:avLst/>
          </a:prstGeom>
          <a:solidFill>
            <a:schemeClr val="accent2"/>
          </a:solidFill>
          <a:ln/>
        </p:spPr>
      </p:sp>
      <p:sp>
        <p:nvSpPr>
          <p:cNvPr id="10" name="card"/>
          <p:cNvSpPr txBox="1"/>
          <p:nvPr/>
        </p:nvSpPr>
        <p:spPr>
          <a:xfrm>
            <a:off x="548640" y="2103120"/>
            <a:ext cx="2327834" cy="3108960"/>
          </a:xfrm>
          <a:prstGeom prst="roundRect">
            <a:avLst>
              <a:gd name="adj" fmla="val 4714"/>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4000" b="1" dirty="0">
                <a:solidFill>
                  <a:schemeClr val="accent1"/>
                </a:solidFill>
              </a:rPr>
              <a:t>4</a:t>
            </a:r>
            <a:endParaRPr lang="ar-SA" sz="4000" dirty="0"/>
          </a:p>
          <a:p>
            <a:pPr rtl="1" algn="r" indent="0" marL="0">
              <a:spcAft>
                <a:spcPts val="600"/>
              </a:spcAft>
              <a:buNone/>
            </a:pPr>
            <a:r>
              <a:rPr lang="ar-SA" altLang="en-US" sz="2000" b="1" dirty="0">
                <a:solidFill>
                  <a:schemeClr val="tx1"/>
                </a:solidFill>
              </a:rPr>
              <a:t>قياس الأثر</a:t>
            </a:r>
            <a:endParaRPr lang="ar-SA" sz="4000" dirty="0"/>
          </a:p>
          <a:p>
            <a:pPr rtl="1" algn="r" indent="0" marL="0">
              <a:spcAft>
                <a:spcPts val="600"/>
              </a:spcAft>
              <a:buNone/>
            </a:pPr>
            <a:r>
              <a:rPr lang="ar-SA" altLang="en-US" sz="1700" dirty="0">
                <a:solidFill>
                  <a:schemeClr val="accent5"/>
                </a:solidFill>
              </a:rPr>
              <a:t>التقييم المالي والفني ورفع التقارير للرقابة</a:t>
            </a:r>
            <a:endParaRPr lang="ar-SA" sz="40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12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7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decel="100000" fill="hold"/>
                                        <p:tgtEl>
                                          <p:spTgt spid="8"/>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84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decel="10000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9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decel="100000" fill="hold"/>
                                        <p:tgtEl>
                                          <p:spTgt spid="1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8 · الأحكام المالية وخطة الاستدامة والتمويل</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مصادر الدخل المعتمدة</a:t>
            </a:r>
            <a:endParaRPr lang="ar-SA" sz="3400" dirty="0"/>
          </a:p>
        </p:txBody>
      </p:sp>
      <p:sp>
        <p:nvSpPr>
          <p:cNvPr id="4" name="card"/>
          <p:cNvSpPr txBox="1"/>
          <p:nvPr/>
        </p:nvSpPr>
        <p:spPr>
          <a:xfrm>
            <a:off x="9040901" y="178308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4"/>
                </a:solidFill>
              </a:rPr>
              <a:t>1</a:t>
            </a:r>
            <a:endParaRPr lang="ar-SA" sz="2800" dirty="0"/>
          </a:p>
          <a:p>
            <a:pPr rtl="1" algn="r" indent="0" marL="0">
              <a:spcAft>
                <a:spcPts val="600"/>
              </a:spcAft>
              <a:buNone/>
            </a:pPr>
            <a:r>
              <a:rPr lang="ar-SA" altLang="en-US" sz="1800" dirty="0">
                <a:solidFill>
                  <a:srgbClr val="E6EEF2"/>
                </a:solidFill>
              </a:rPr>
              <a:t>رسوم الانتساب والاشتراكات السنوية للأعضاء</a:t>
            </a:r>
            <a:endParaRPr lang="ar-SA" sz="2800" dirty="0"/>
          </a:p>
        </p:txBody>
      </p:sp>
      <p:sp>
        <p:nvSpPr>
          <p:cNvPr id="5" name="card"/>
          <p:cNvSpPr txBox="1"/>
          <p:nvPr/>
        </p:nvSpPr>
        <p:spPr>
          <a:xfrm>
            <a:off x="6210148" y="178308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4"/>
                </a:solidFill>
              </a:rPr>
              <a:t>2</a:t>
            </a:r>
            <a:endParaRPr lang="ar-SA" sz="2800" dirty="0"/>
          </a:p>
          <a:p>
            <a:pPr rtl="1" algn="r" indent="0" marL="0">
              <a:spcAft>
                <a:spcPts val="600"/>
              </a:spcAft>
              <a:buNone/>
            </a:pPr>
            <a:r>
              <a:rPr lang="ar-SA" altLang="en-US" sz="1800" dirty="0">
                <a:solidFill>
                  <a:srgbClr val="E6EEF2"/>
                </a:solidFill>
              </a:rPr>
              <a:t>التبرعات والهبات الطوعية من الأفراد والمؤسسات</a:t>
            </a:r>
            <a:endParaRPr lang="ar-SA" sz="2800" dirty="0"/>
          </a:p>
        </p:txBody>
      </p:sp>
      <p:sp>
        <p:nvSpPr>
          <p:cNvPr id="6" name="card"/>
          <p:cNvSpPr txBox="1"/>
          <p:nvPr/>
        </p:nvSpPr>
        <p:spPr>
          <a:xfrm>
            <a:off x="3379394" y="178308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4"/>
                </a:solidFill>
              </a:rPr>
              <a:t>3</a:t>
            </a:r>
            <a:endParaRPr lang="ar-SA" sz="2800" dirty="0"/>
          </a:p>
          <a:p>
            <a:pPr rtl="1" algn="r" indent="0" marL="0">
              <a:spcAft>
                <a:spcPts val="600"/>
              </a:spcAft>
              <a:buNone/>
            </a:pPr>
            <a:r>
              <a:rPr lang="ar-SA" altLang="en-US" sz="1800" dirty="0">
                <a:solidFill>
                  <a:srgbClr val="E6EEF2"/>
                </a:solidFill>
              </a:rPr>
              <a:t>عوائد المطبوعات والمعارض والندوات والرحلات والأنشطة</a:t>
            </a:r>
            <a:endParaRPr lang="ar-SA" sz="2800" dirty="0"/>
          </a:p>
        </p:txBody>
      </p:sp>
      <p:sp>
        <p:nvSpPr>
          <p:cNvPr id="7" name="card"/>
          <p:cNvSpPr txBox="1"/>
          <p:nvPr/>
        </p:nvSpPr>
        <p:spPr>
          <a:xfrm>
            <a:off x="548640" y="178308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4"/>
                </a:solidFill>
              </a:rPr>
              <a:t>4</a:t>
            </a:r>
            <a:endParaRPr lang="ar-SA" sz="2800" dirty="0"/>
          </a:p>
          <a:p>
            <a:pPr rtl="1" algn="r" indent="0" marL="0">
              <a:spcAft>
                <a:spcPts val="600"/>
              </a:spcAft>
              <a:buNone/>
            </a:pPr>
            <a:r>
              <a:rPr lang="ar-SA" altLang="en-US" sz="1800" dirty="0">
                <a:solidFill>
                  <a:srgbClr val="E6EEF2"/>
                </a:solidFill>
              </a:rPr>
              <a:t>ريع أصول الجمعية وممتلكاتها</a:t>
            </a:r>
            <a:endParaRPr lang="ar-SA" sz="2800" dirty="0"/>
          </a:p>
        </p:txBody>
      </p:sp>
      <p:sp>
        <p:nvSpPr>
          <p:cNvPr id="8" name="card"/>
          <p:cNvSpPr txBox="1"/>
          <p:nvPr/>
        </p:nvSpPr>
        <p:spPr>
          <a:xfrm>
            <a:off x="9040901" y="402336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3"/>
                </a:solidFill>
              </a:rPr>
              <a:t>5</a:t>
            </a:r>
            <a:endParaRPr lang="ar-SA" sz="2800" dirty="0"/>
          </a:p>
          <a:p>
            <a:pPr rtl="1" algn="r" indent="0" marL="0">
              <a:spcAft>
                <a:spcPts val="600"/>
              </a:spcAft>
              <a:buNone/>
            </a:pPr>
            <a:r>
              <a:rPr lang="ar-SA" altLang="en-US" sz="1800" dirty="0">
                <a:solidFill>
                  <a:srgbClr val="E6EEF2"/>
                </a:solidFill>
              </a:rPr>
              <a:t>التبرعات المجمّعة وفق تشريعات جمع التبرعات</a:t>
            </a:r>
            <a:endParaRPr lang="ar-SA" sz="2800" dirty="0"/>
          </a:p>
        </p:txBody>
      </p:sp>
      <p:sp>
        <p:nvSpPr>
          <p:cNvPr id="9" name="card"/>
          <p:cNvSpPr txBox="1"/>
          <p:nvPr/>
        </p:nvSpPr>
        <p:spPr>
          <a:xfrm>
            <a:off x="6210148" y="402336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3"/>
                </a:solidFill>
              </a:rPr>
              <a:t>6</a:t>
            </a:r>
            <a:endParaRPr lang="ar-SA" sz="2800" dirty="0"/>
          </a:p>
          <a:p>
            <a:pPr rtl="1" algn="r" indent="0" marL="0">
              <a:spcAft>
                <a:spcPts val="600"/>
              </a:spcAft>
              <a:buNone/>
            </a:pPr>
            <a:r>
              <a:rPr lang="ar-SA" altLang="en-US" sz="1800" dirty="0">
                <a:solidFill>
                  <a:srgbClr val="E6EEF2"/>
                </a:solidFill>
              </a:rPr>
              <a:t>أرباح المنشآت الاقتصادية والتجارية التابعة</a:t>
            </a:r>
            <a:endParaRPr lang="ar-SA" sz="2800" dirty="0"/>
          </a:p>
        </p:txBody>
      </p:sp>
      <p:sp>
        <p:nvSpPr>
          <p:cNvPr id="10" name="card"/>
          <p:cNvSpPr txBox="1"/>
          <p:nvPr/>
        </p:nvSpPr>
        <p:spPr>
          <a:xfrm>
            <a:off x="3379394" y="4023360"/>
            <a:ext cx="2602154" cy="1965960"/>
          </a:xfrm>
          <a:prstGeom prst="roundRect">
            <a:avLst>
              <a:gd name="adj" fmla="val 5581"/>
            </a:avLst>
          </a:prstGeom>
          <a:solidFill>
            <a:srgbClr val="17293A"/>
          </a:solidFill>
          <a:ln w="9525">
            <a:solidFill>
              <a:srgbClr val="25425C"/>
            </a:solidFill>
          </a:ln>
        </p:spPr>
        <p:txBody>
          <a:bodyPr wrap="square" lIns="177800" tIns="203200" rIns="203200" bIns="177800" rtlCol="0" anchor="t"/>
          <a:lstStyle/>
          <a:p>
            <a:pPr rtl="1" algn="r" indent="0" marL="0">
              <a:spcAft>
                <a:spcPts val="600"/>
              </a:spcAft>
              <a:buNone/>
            </a:pPr>
            <a:r>
              <a:rPr lang="ar-SA" altLang="en-US" sz="2800" b="1" dirty="0">
                <a:solidFill>
                  <a:schemeClr val="accent3"/>
                </a:solidFill>
              </a:rPr>
              <a:t>7</a:t>
            </a:r>
            <a:endParaRPr lang="ar-SA" sz="2800" dirty="0"/>
          </a:p>
          <a:p>
            <a:pPr rtl="1" algn="r" indent="0" marL="0">
              <a:spcAft>
                <a:spcPts val="600"/>
              </a:spcAft>
              <a:buNone/>
            </a:pPr>
            <a:r>
              <a:rPr lang="ar-SA" altLang="en-US" sz="1800" dirty="0">
                <a:solidFill>
                  <a:srgbClr val="E6EEF2"/>
                </a:solidFill>
              </a:rPr>
              <a:t>المنح وبرامج الصناديق المحلية والدولية والتمويل المشترك</a:t>
            </a:r>
            <a:endParaRPr lang="ar-SA" sz="2800" dirty="0"/>
          </a:p>
        </p:txBody>
      </p:sp>
      <p:pic>
        <p:nvPicPr>
          <p:cNvPr id="11" name="photo" descr="/home/user/-/site/assets/img/board.jpg">    </p:cNvPr>
          <p:cNvPicPr>
            <a:picLocks noChangeAspect="1"/>
          </p:cNvPicPr>
          <p:nvPr/>
        </p:nvPicPr>
        <p:blipFill>
          <a:blip r:embed="rId1"/>
          <a:srcRect l="0" r="0" t="0" b="0"/>
          <a:stretch/>
        </p:blipFill>
        <p:spPr>
          <a:xfrm>
            <a:off x="548640" y="4023360"/>
            <a:ext cx="2602154" cy="1965960"/>
          </a:xfrm>
          <a:prstGeom prst="rect">
            <a:avLst/>
          </a:prstGeom>
        </p:spPr>
      </p:pic>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13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7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decel="100000" fill="hold"/>
                                        <p:tgtEl>
                                          <p:spTgt spid="8"/>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84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decel="10000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9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decel="1000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nodeType="withEffect">
                                  <p:stCondLst>
                                    <p:cond delay="108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anim calcmode="lin" valueType="num">
                                      <p:cBhvr>
                                        <p:cTn id="42" dur="5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9 · ما لك وما عليك</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حقوق وواجبات العضو الجديد</a:t>
            </a:r>
            <a:endParaRPr lang="ar-SA" sz="3400" dirty="0"/>
          </a:p>
        </p:txBody>
      </p:sp>
      <p:sp>
        <p:nvSpPr>
          <p:cNvPr id="4" name="card"/>
          <p:cNvSpPr txBox="1"/>
          <p:nvPr/>
        </p:nvSpPr>
        <p:spPr>
          <a:xfrm>
            <a:off x="6278728" y="1783080"/>
            <a:ext cx="5364328" cy="4343400"/>
          </a:xfrm>
          <a:prstGeom prst="roundRect">
            <a:avLst>
              <a:gd name="adj" fmla="val 2526"/>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279400" tIns="304800" rIns="304800" bIns="279400" rtlCol="0" anchor="t"/>
          <a:lstStyle/>
          <a:p>
            <a:pPr rtl="1" algn="r" indent="0" marL="0">
              <a:spcAft>
                <a:spcPts val="600"/>
              </a:spcAft>
              <a:buNone/>
            </a:pPr>
            <a:r>
              <a:rPr lang="ar-SA" altLang="en-US" sz="2400" b="1" dirty="0">
                <a:solidFill>
                  <a:schemeClr val="accent1"/>
                </a:solidFill>
              </a:rPr>
              <a:t>حقوق العضو</a:t>
            </a:r>
            <a:endParaRPr lang="ar-SA" sz="2400" dirty="0"/>
          </a:p>
          <a:p>
            <a:pPr rtl="1" algn="r" indent="0" marL="0">
              <a:spcAft>
                <a:spcPts val="1400"/>
              </a:spcAft>
              <a:buNone/>
            </a:pPr>
            <a:r>
              <a:rPr lang="ar-SA" altLang="en-US" sz="1800" dirty="0">
                <a:solidFill>
                  <a:schemeClr val="accent5"/>
                </a:solidFill>
              </a:rPr>
              <a:t>✔  المشاركة في اجتماعات الجمعية العمومية والتصويت على القرارات.</a:t>
            </a:r>
            <a:endParaRPr lang="ar-SA" sz="2400" dirty="0"/>
          </a:p>
          <a:p>
            <a:pPr rtl="1" algn="r" indent="0" marL="0">
              <a:spcAft>
                <a:spcPts val="1400"/>
              </a:spcAft>
              <a:buNone/>
            </a:pPr>
            <a:r>
              <a:rPr lang="ar-SA" altLang="en-US" sz="1800" dirty="0">
                <a:solidFill>
                  <a:schemeClr val="accent5"/>
                </a:solidFill>
              </a:rPr>
              <a:t>✔  الترشح لعضوية اللجان والمهام في مختلف الأقسام التنفيذية.</a:t>
            </a:r>
            <a:endParaRPr lang="ar-SA" sz="2400" dirty="0"/>
          </a:p>
          <a:p>
            <a:pPr rtl="1" algn="r" indent="0" marL="0">
              <a:spcAft>
                <a:spcPts val="1400"/>
              </a:spcAft>
              <a:buNone/>
            </a:pPr>
            <a:r>
              <a:rPr lang="ar-SA" altLang="en-US" sz="1800" dirty="0">
                <a:solidFill>
                  <a:schemeClr val="accent5"/>
                </a:solidFill>
              </a:rPr>
              <a:t>✔  تقديم المقترحات والمبادرات لتطوير «ينابيع» و«منافع».</a:t>
            </a:r>
            <a:endParaRPr lang="ar-SA" sz="2400" dirty="0"/>
          </a:p>
          <a:p>
            <a:pPr rtl="1" algn="r" indent="0" marL="0">
              <a:spcAft>
                <a:spcPts val="1400"/>
              </a:spcAft>
              <a:buNone/>
            </a:pPr>
            <a:r>
              <a:rPr lang="ar-SA" altLang="en-US" sz="1800" dirty="0">
                <a:solidFill>
                  <a:schemeClr val="accent5"/>
                </a:solidFill>
              </a:rPr>
              <a:t>✔  الاستفادة من البرامج التدريبية والفعاليات التي تنظمها الجمعية.</a:t>
            </a:r>
            <a:endParaRPr lang="ar-SA" sz="2400" dirty="0"/>
          </a:p>
        </p:txBody>
      </p:sp>
      <p:sp>
        <p:nvSpPr>
          <p:cNvPr id="5" name="card"/>
          <p:cNvSpPr txBox="1"/>
          <p:nvPr/>
        </p:nvSpPr>
        <p:spPr>
          <a:xfrm>
            <a:off x="548640" y="1783080"/>
            <a:ext cx="5364328" cy="4343400"/>
          </a:xfrm>
          <a:prstGeom prst="roundRect">
            <a:avLst>
              <a:gd name="adj" fmla="val 2526"/>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279400" tIns="304800" rIns="304800" bIns="279400" rtlCol="0" anchor="t"/>
          <a:lstStyle/>
          <a:p>
            <a:pPr rtl="1" algn="r" indent="0" marL="0">
              <a:spcAft>
                <a:spcPts val="600"/>
              </a:spcAft>
              <a:buNone/>
            </a:pPr>
            <a:r>
              <a:rPr lang="ar-SA" altLang="en-US" sz="2400" b="1" dirty="0">
                <a:solidFill>
                  <a:srgbClr val="8A6216"/>
                </a:solidFill>
              </a:rPr>
              <a:t>واجبات العضو</a:t>
            </a:r>
            <a:endParaRPr lang="ar-SA" sz="2400" dirty="0"/>
          </a:p>
          <a:p>
            <a:pPr rtl="1" algn="r" indent="0" marL="0">
              <a:spcAft>
                <a:spcPts val="1400"/>
              </a:spcAft>
              <a:buNone/>
            </a:pPr>
            <a:r>
              <a:rPr lang="ar-SA" altLang="en-US" sz="1800" dirty="0">
                <a:solidFill>
                  <a:schemeClr val="accent5"/>
                </a:solidFill>
              </a:rPr>
              <a:t>◆  الالتزام بأهداف الجمعية ونظامها الأساسي ومبادئها الأخلاقية.</a:t>
            </a:r>
            <a:endParaRPr lang="ar-SA" sz="2400" dirty="0"/>
          </a:p>
          <a:p>
            <a:pPr rtl="1" algn="r" indent="0" marL="0">
              <a:spcAft>
                <a:spcPts val="1400"/>
              </a:spcAft>
              <a:buNone/>
            </a:pPr>
            <a:r>
              <a:rPr lang="ar-SA" altLang="en-US" sz="1800" dirty="0">
                <a:solidFill>
                  <a:schemeClr val="accent5"/>
                </a:solidFill>
              </a:rPr>
              <a:t>◆  المساهمة الفاعلة في تحقيق أهداف الجمعية ونشر رسالتها.</a:t>
            </a:r>
            <a:endParaRPr lang="ar-SA" sz="2400" dirty="0"/>
          </a:p>
          <a:p>
            <a:pPr rtl="1" algn="r" indent="0" marL="0">
              <a:spcAft>
                <a:spcPts val="1400"/>
              </a:spcAft>
              <a:buNone/>
            </a:pPr>
            <a:r>
              <a:rPr lang="ar-SA" altLang="en-US" sz="1800" dirty="0">
                <a:solidFill>
                  <a:schemeClr val="accent5"/>
                </a:solidFill>
              </a:rPr>
              <a:t>◆  سداد الاشتراكات السنوية المقررة وفق الأنظمة المعتمدة.</a:t>
            </a:r>
            <a:endParaRPr lang="ar-SA" sz="2400" dirty="0"/>
          </a:p>
          <a:p>
            <a:pPr rtl="1" algn="r" indent="0" marL="0">
              <a:spcAft>
                <a:spcPts val="1400"/>
              </a:spcAft>
              <a:buNone/>
            </a:pPr>
            <a:r>
              <a:rPr lang="ar-SA" altLang="en-US" sz="1800" dirty="0">
                <a:solidFill>
                  <a:schemeClr val="accent5"/>
                </a:solidFill>
              </a:rPr>
              <a:t>◆  الحفاظ على سمعة الجمعية وممتلكاتها ومكتسباتها.</a:t>
            </a:r>
            <a:endParaRPr lang="ar-SA" sz="2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14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3"/>
                </a:solidFill>
              </a:rPr>
              <a:t>10 · النتائج التي نسعى إليها</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bg1"/>
                </a:solidFill>
              </a:rPr>
              <a:t>قياس الأثر التنموي المتوقع</a:t>
            </a:r>
            <a:endParaRPr lang="ar-SA" sz="3400" dirty="0"/>
          </a:p>
        </p:txBody>
      </p:sp>
      <p:sp>
        <p:nvSpPr>
          <p:cNvPr id="4" name="card"/>
          <p:cNvSpPr txBox="1"/>
          <p:nvPr/>
        </p:nvSpPr>
        <p:spPr>
          <a:xfrm>
            <a:off x="8127797" y="1828800"/>
            <a:ext cx="3515258" cy="2926080"/>
          </a:xfrm>
          <a:prstGeom prst="roundRect">
            <a:avLst>
              <a:gd name="adj" fmla="val 3750"/>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2200" b="1" dirty="0">
                <a:solidFill>
                  <a:schemeClr val="accent4"/>
                </a:solidFill>
              </a:rPr>
              <a:t>الأثر الاقتصادي والتوظيف</a:t>
            </a:r>
            <a:endParaRPr lang="ar-SA" sz="2200" dirty="0"/>
          </a:p>
          <a:p>
            <a:pPr rtl="1" algn="r" indent="0" marL="0">
              <a:spcAft>
                <a:spcPts val="600"/>
              </a:spcAft>
              <a:buNone/>
            </a:pPr>
            <a:r>
              <a:rPr lang="ar-SA" altLang="en-US" sz="1800" dirty="0">
                <a:solidFill>
                  <a:schemeClr val="accent6"/>
                </a:solidFill>
              </a:rPr>
              <a:t>خلق فرص عمل جديدة وتدريب الكوادر البشرية دعماً لخطط الدولة التنموية وللحد من البطالة.</a:t>
            </a:r>
            <a:endParaRPr lang="ar-SA" sz="2200" dirty="0"/>
          </a:p>
        </p:txBody>
      </p:sp>
      <p:sp>
        <p:nvSpPr>
          <p:cNvPr id="5" name="card"/>
          <p:cNvSpPr txBox="1"/>
          <p:nvPr/>
        </p:nvSpPr>
        <p:spPr>
          <a:xfrm>
            <a:off x="4338218" y="1828800"/>
            <a:ext cx="3515258" cy="2926080"/>
          </a:xfrm>
          <a:prstGeom prst="roundRect">
            <a:avLst>
              <a:gd name="adj" fmla="val 3750"/>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2200" b="1" dirty="0">
                <a:solidFill>
                  <a:schemeClr val="accent3"/>
                </a:solidFill>
              </a:rPr>
              <a:t>أثر التكامل المؤسسي</a:t>
            </a:r>
            <a:endParaRPr lang="ar-SA" sz="2200" dirty="0"/>
          </a:p>
          <a:p>
            <a:pPr rtl="1" algn="r" indent="0" marL="0">
              <a:spcAft>
                <a:spcPts val="600"/>
              </a:spcAft>
              <a:buNone/>
            </a:pPr>
            <a:r>
              <a:rPr lang="ar-SA" altLang="en-US" sz="1800" dirty="0">
                <a:solidFill>
                  <a:schemeClr val="accent6"/>
                </a:solidFill>
              </a:rPr>
              <a:t>تفعيل الشراكة بين الجمعيات التركية وجمعيات الجاليات بما يعظّم الاستفادة من الإمكانات ويمنع تكرار الجهود.</a:t>
            </a:r>
            <a:endParaRPr lang="ar-SA" sz="2200" dirty="0"/>
          </a:p>
        </p:txBody>
      </p:sp>
      <p:sp>
        <p:nvSpPr>
          <p:cNvPr id="6" name="card"/>
          <p:cNvSpPr txBox="1"/>
          <p:nvPr/>
        </p:nvSpPr>
        <p:spPr>
          <a:xfrm>
            <a:off x="548640" y="1828800"/>
            <a:ext cx="3515258" cy="2926080"/>
          </a:xfrm>
          <a:prstGeom prst="roundRect">
            <a:avLst>
              <a:gd name="adj" fmla="val 3750"/>
            </a:avLst>
          </a:prstGeom>
          <a:solidFill>
            <a:srgbClr val="17293A"/>
          </a:solidFill>
          <a:ln w="9525">
            <a:solidFill>
              <a:srgbClr val="25425C"/>
            </a:solidFill>
          </a:ln>
        </p:spPr>
        <p:txBody>
          <a:bodyPr wrap="square" lIns="254000" tIns="254000" rIns="254000" bIns="254000" rtlCol="0" anchor="t"/>
          <a:lstStyle/>
          <a:p>
            <a:pPr rtl="1" algn="r" indent="0" marL="0">
              <a:spcAft>
                <a:spcPts val="600"/>
              </a:spcAft>
              <a:buNone/>
            </a:pPr>
            <a:r>
              <a:rPr lang="ar-SA" altLang="en-US" sz="2200" b="1" dirty="0">
                <a:solidFill>
                  <a:schemeClr val="accent4"/>
                </a:solidFill>
              </a:rPr>
              <a:t>الأثر المجتمعي والقيمي</a:t>
            </a:r>
            <a:endParaRPr lang="ar-SA" sz="2200" dirty="0"/>
          </a:p>
          <a:p>
            <a:pPr rtl="1" algn="r" indent="0" marL="0">
              <a:spcAft>
                <a:spcPts val="600"/>
              </a:spcAft>
              <a:buNone/>
            </a:pPr>
            <a:r>
              <a:rPr lang="ar-SA" altLang="en-US" sz="1800" dirty="0">
                <a:solidFill>
                  <a:schemeClr val="accent6"/>
                </a:solidFill>
              </a:rPr>
              <a:t>بناء أجيال متمسكة بالقيم، ونموذج عمل فاعل ومستدام يخدم كل أفراد المجتمع بأسلوب تكاملي.</a:t>
            </a:r>
            <a:endParaRPr lang="ar-SA" sz="2200" dirty="0"/>
          </a:p>
        </p:txBody>
      </p:sp>
      <p:pic>
        <p:nvPicPr>
          <p:cNvPr id="7" name="photo" descr="/home/user/-/site/assets/img/training.jpg">    </p:cNvPr>
          <p:cNvPicPr>
            <a:picLocks noChangeAspect="1"/>
          </p:cNvPicPr>
          <p:nvPr/>
        </p:nvPicPr>
        <p:blipFill>
          <a:blip r:embed="rId1">
            <a:alphaModFix amt="80000"/>
          </a:blip>
          <a:srcRect l="0" r="0" t="0" b="0"/>
          <a:stretch/>
        </p:blipFill>
        <p:spPr>
          <a:xfrm>
            <a:off x="548640" y="4937760"/>
            <a:ext cx="11094415" cy="1188720"/>
          </a:xfrm>
          <a:prstGeom prst="rect">
            <a:avLst/>
          </a:prstGeom>
        </p:spPr>
      </p:pic>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rtl="1" algn="l"/>
            <a:fld id="{F7021451-1387-4CA6-816F-3879F97B5CBC}" type="slidenum">
              <a:rPr b="0" lang="en-US"/>
              <a:t>15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42"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3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8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decel="1000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nodeType="withEffect">
                                  <p:stCondLst>
                                    <p:cond delay="6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4415" cy="365760"/>
          </a:xfrm>
          <a:prstGeom prst="rect">
            <a:avLst/>
          </a:prstGeom>
          <a:noFill/>
          <a:ln/>
        </p:spPr>
        <p:txBody>
          <a:bodyPr wrap="square" lIns="0" tIns="0" rIns="0" bIns="0" rtlCol="0" anchor="ctr"/>
          <a:lstStyle/>
          <a:p>
            <a:pPr rtl="1" algn="r" indent="0" marL="0">
              <a:buNone/>
            </a:pPr>
            <a:r>
              <a:rPr lang="ar-SA" altLang="en-US" sz="1400" b="1" dirty="0">
                <a:solidFill>
                  <a:schemeClr val="accent1"/>
                </a:solidFill>
              </a:rPr>
              <a:t>12 · وما الذي يميزها عن غيرها</a:t>
            </a:r>
            <a:endParaRPr lang="ar-SA" sz="1400" dirty="0"/>
          </a:p>
        </p:txBody>
      </p:sp>
      <p:sp>
        <p:nvSpPr>
          <p:cNvPr id="3" name="Text 1"/>
          <p:cNvSpPr/>
          <p:nvPr>
            <p:ph idx="102" type="title" hasCustomPrompt="1"/>
          </p:nvPr>
        </p:nvSpPr>
        <p:spPr>
          <a:xfrm>
            <a:off x="548640" y="731520"/>
            <a:ext cx="11094415" cy="777240"/>
          </a:xfrm>
          <a:prstGeom prst="rect">
            <a:avLst/>
          </a:prstGeom>
          <a:noFill/>
          <a:ln/>
        </p:spPr>
        <p:txBody>
          <a:bodyPr wrap="square" lIns="0" tIns="0" rIns="0" bIns="0" rtlCol="0" anchor="ctr"/>
          <a:lstStyle/>
          <a:p>
            <a:pPr rtl="1" algn="r" indent="0" marL="0">
              <a:buNone/>
            </a:pPr>
            <a:r>
              <a:rPr lang="ar-SA" altLang="en-US" sz="3400" b="1" dirty="0">
                <a:solidFill>
                  <a:schemeClr val="tx1"/>
                </a:solidFill>
              </a:rPr>
              <a:t>لماذا أنضم إلى جمعية «تكامل»؟</a:t>
            </a:r>
            <a:endParaRPr lang="ar-SA" sz="3400" dirty="0"/>
          </a:p>
        </p:txBody>
      </p:sp>
      <p:sp>
        <p:nvSpPr>
          <p:cNvPr id="4" name="Text 2"/>
          <p:cNvSpPr txBox="1"/>
          <p:nvPr/>
        </p:nvSpPr>
        <p:spPr>
          <a:xfrm>
            <a:off x="548640" y="1645920"/>
            <a:ext cx="11094415" cy="457200"/>
          </a:xfrm>
          <a:prstGeom prst="rect">
            <a:avLst/>
          </a:prstGeom>
          <a:noFill/>
          <a:ln/>
        </p:spPr>
        <p:txBody>
          <a:bodyPr wrap="square" lIns="0" tIns="0" rIns="0" bIns="0" rtlCol="0" anchor="ctr"/>
          <a:lstStyle/>
          <a:p>
            <a:pPr rtl="1" algn="r" indent="0" marL="0">
              <a:buNone/>
            </a:pPr>
            <a:r>
              <a:rPr lang="ar-SA" altLang="en-US" sz="1700" dirty="0">
                <a:solidFill>
                  <a:schemeClr val="accent5"/>
                </a:solidFill>
              </a:rPr>
              <a:t>وتتجسد قوة الجمعية في عشر ركائز إستراتيجية تجعل منها بيئة استثنائية للعطاء والأثر المستدام:</a:t>
            </a:r>
            <a:endParaRPr lang="ar-SA" sz="1700" dirty="0"/>
          </a:p>
        </p:txBody>
      </p:sp>
      <p:sp>
        <p:nvSpPr>
          <p:cNvPr id="5" name="card"/>
          <p:cNvSpPr txBox="1"/>
          <p:nvPr/>
        </p:nvSpPr>
        <p:spPr>
          <a:xfrm>
            <a:off x="9585107" y="23317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chemeClr val="accent1"/>
                </a:solidFill>
              </a:rPr>
              <a:t>1</a:t>
            </a:r>
            <a:endParaRPr lang="ar-SA" sz="2800" dirty="0"/>
          </a:p>
          <a:p>
            <a:pPr rtl="1" algn="r" indent="0" marL="0">
              <a:spcAft>
                <a:spcPts val="600"/>
              </a:spcAft>
              <a:buNone/>
            </a:pPr>
            <a:r>
              <a:rPr lang="ar-SA" altLang="en-US" sz="1600" b="1" dirty="0">
                <a:solidFill>
                  <a:schemeClr val="tx1"/>
                </a:solidFill>
              </a:rPr>
              <a:t>القيادة والحوكمة</a:t>
            </a:r>
            <a:endParaRPr lang="ar-SA" sz="2800" dirty="0"/>
          </a:p>
        </p:txBody>
      </p:sp>
      <p:sp>
        <p:nvSpPr>
          <p:cNvPr id="6" name="card"/>
          <p:cNvSpPr txBox="1"/>
          <p:nvPr/>
        </p:nvSpPr>
        <p:spPr>
          <a:xfrm>
            <a:off x="7325990" y="23317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chemeClr val="accent1"/>
                </a:solidFill>
              </a:rPr>
              <a:t>2</a:t>
            </a:r>
            <a:endParaRPr lang="ar-SA" sz="2800" dirty="0"/>
          </a:p>
          <a:p>
            <a:pPr rtl="1" algn="r" indent="0" marL="0">
              <a:spcAft>
                <a:spcPts val="600"/>
              </a:spcAft>
              <a:buNone/>
            </a:pPr>
            <a:r>
              <a:rPr lang="ar-SA" altLang="en-US" sz="1600" b="1" dirty="0">
                <a:solidFill>
                  <a:schemeClr val="tx1"/>
                </a:solidFill>
              </a:rPr>
              <a:t>التنوع والتكامل الدولي</a:t>
            </a:r>
            <a:endParaRPr lang="ar-SA" sz="2800" dirty="0"/>
          </a:p>
        </p:txBody>
      </p:sp>
      <p:sp>
        <p:nvSpPr>
          <p:cNvPr id="7" name="card"/>
          <p:cNvSpPr txBox="1"/>
          <p:nvPr/>
        </p:nvSpPr>
        <p:spPr>
          <a:xfrm>
            <a:off x="5066873" y="23317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chemeClr val="accent1"/>
                </a:solidFill>
              </a:rPr>
              <a:t>3</a:t>
            </a:r>
            <a:endParaRPr lang="ar-SA" sz="2800" dirty="0"/>
          </a:p>
          <a:p>
            <a:pPr rtl="1" algn="r" indent="0" marL="0">
              <a:spcAft>
                <a:spcPts val="600"/>
              </a:spcAft>
              <a:buNone/>
            </a:pPr>
            <a:r>
              <a:rPr lang="ar-SA" altLang="en-US" sz="1600" b="1" dirty="0">
                <a:solidFill>
                  <a:schemeClr val="tx1"/>
                </a:solidFill>
              </a:rPr>
              <a:t>الدور التنسيقي والشبكي</a:t>
            </a:r>
            <a:endParaRPr lang="ar-SA" sz="2800" dirty="0"/>
          </a:p>
        </p:txBody>
      </p:sp>
      <p:sp>
        <p:nvSpPr>
          <p:cNvPr id="8" name="card"/>
          <p:cNvSpPr txBox="1"/>
          <p:nvPr/>
        </p:nvSpPr>
        <p:spPr>
          <a:xfrm>
            <a:off x="2807757" y="23317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chemeClr val="accent1"/>
                </a:solidFill>
              </a:rPr>
              <a:t>4</a:t>
            </a:r>
            <a:endParaRPr lang="ar-SA" sz="2800" dirty="0"/>
          </a:p>
          <a:p>
            <a:pPr rtl="1" algn="r" indent="0" marL="0">
              <a:spcAft>
                <a:spcPts val="600"/>
              </a:spcAft>
              <a:buNone/>
            </a:pPr>
            <a:r>
              <a:rPr lang="ar-SA" altLang="en-US" sz="1600" b="1" dirty="0">
                <a:solidFill>
                  <a:schemeClr val="tx1"/>
                </a:solidFill>
              </a:rPr>
              <a:t>الشمولية ونطاق الأثر</a:t>
            </a:r>
            <a:endParaRPr lang="ar-SA" sz="2800" dirty="0"/>
          </a:p>
        </p:txBody>
      </p:sp>
      <p:sp>
        <p:nvSpPr>
          <p:cNvPr id="9" name="card"/>
          <p:cNvSpPr txBox="1"/>
          <p:nvPr/>
        </p:nvSpPr>
        <p:spPr>
          <a:xfrm>
            <a:off x="548640" y="23317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chemeClr val="accent1"/>
                </a:solidFill>
              </a:rPr>
              <a:t>5</a:t>
            </a:r>
            <a:endParaRPr lang="ar-SA" sz="2800" dirty="0"/>
          </a:p>
          <a:p>
            <a:pPr rtl="1" algn="r" indent="0" marL="0">
              <a:spcAft>
                <a:spcPts val="600"/>
              </a:spcAft>
              <a:buNone/>
            </a:pPr>
            <a:r>
              <a:rPr lang="ar-SA" altLang="en-US" sz="1600" b="1" dirty="0">
                <a:solidFill>
                  <a:schemeClr val="tx1"/>
                </a:solidFill>
              </a:rPr>
              <a:t>الأمان المجتمعي والاقتصادي</a:t>
            </a:r>
            <a:endParaRPr lang="ar-SA" sz="2800" dirty="0"/>
          </a:p>
        </p:txBody>
      </p:sp>
      <p:sp>
        <p:nvSpPr>
          <p:cNvPr id="10" name="card"/>
          <p:cNvSpPr txBox="1"/>
          <p:nvPr/>
        </p:nvSpPr>
        <p:spPr>
          <a:xfrm>
            <a:off x="9585107" y="43891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rgbClr val="8A6216"/>
                </a:solidFill>
              </a:rPr>
              <a:t>6</a:t>
            </a:r>
            <a:endParaRPr lang="ar-SA" sz="2800" dirty="0"/>
          </a:p>
          <a:p>
            <a:pPr rtl="1" algn="r" indent="0" marL="0">
              <a:spcAft>
                <a:spcPts val="600"/>
              </a:spcAft>
              <a:buNone/>
            </a:pPr>
            <a:r>
              <a:rPr lang="ar-SA" altLang="en-US" sz="1600" b="1" dirty="0">
                <a:solidFill>
                  <a:schemeClr val="tx1"/>
                </a:solidFill>
              </a:rPr>
              <a:t>التحول الرقمي والذكاء الاصطناعي</a:t>
            </a:r>
            <a:endParaRPr lang="ar-SA" sz="2800" dirty="0"/>
          </a:p>
        </p:txBody>
      </p:sp>
      <p:sp>
        <p:nvSpPr>
          <p:cNvPr id="11" name="card"/>
          <p:cNvSpPr txBox="1"/>
          <p:nvPr/>
        </p:nvSpPr>
        <p:spPr>
          <a:xfrm>
            <a:off x="7325990" y="43891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rgbClr val="8A6216"/>
                </a:solidFill>
              </a:rPr>
              <a:t>7</a:t>
            </a:r>
            <a:endParaRPr lang="ar-SA" sz="2800" dirty="0"/>
          </a:p>
          <a:p>
            <a:pPr rtl="1" algn="r" indent="0" marL="0">
              <a:spcAft>
                <a:spcPts val="600"/>
              </a:spcAft>
              <a:buNone/>
            </a:pPr>
            <a:r>
              <a:rPr lang="ar-SA" altLang="en-US" sz="1600" b="1" dirty="0">
                <a:solidFill>
                  <a:schemeClr val="tx1"/>
                </a:solidFill>
              </a:rPr>
              <a:t>الاستثمار في أجيال المستقبل</a:t>
            </a:r>
            <a:endParaRPr lang="ar-SA" sz="2800" dirty="0"/>
          </a:p>
        </p:txBody>
      </p:sp>
      <p:sp>
        <p:nvSpPr>
          <p:cNvPr id="12" name="card"/>
          <p:cNvSpPr txBox="1"/>
          <p:nvPr/>
        </p:nvSpPr>
        <p:spPr>
          <a:xfrm>
            <a:off x="5066873" y="43891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rgbClr val="8A6216"/>
                </a:solidFill>
              </a:rPr>
              <a:t>8</a:t>
            </a:r>
            <a:endParaRPr lang="ar-SA" sz="2800" dirty="0"/>
          </a:p>
          <a:p>
            <a:pPr rtl="1" algn="r" indent="0" marL="0">
              <a:spcAft>
                <a:spcPts val="600"/>
              </a:spcAft>
              <a:buNone/>
            </a:pPr>
            <a:r>
              <a:rPr lang="ar-SA" altLang="en-US" sz="1600" b="1" dirty="0">
                <a:solidFill>
                  <a:schemeClr val="tx1"/>
                </a:solidFill>
              </a:rPr>
              <a:t>التجديد المؤسسي وتداول القيادة</a:t>
            </a:r>
            <a:endParaRPr lang="ar-SA" sz="2800" dirty="0"/>
          </a:p>
        </p:txBody>
      </p:sp>
      <p:sp>
        <p:nvSpPr>
          <p:cNvPr id="13" name="card"/>
          <p:cNvSpPr txBox="1"/>
          <p:nvPr/>
        </p:nvSpPr>
        <p:spPr>
          <a:xfrm>
            <a:off x="2807757" y="43891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rgbClr val="8A6216"/>
                </a:solidFill>
              </a:rPr>
              <a:t>9</a:t>
            </a:r>
            <a:endParaRPr lang="ar-SA" sz="2800" dirty="0"/>
          </a:p>
          <a:p>
            <a:pPr rtl="1" algn="r" indent="0" marL="0">
              <a:spcAft>
                <a:spcPts val="600"/>
              </a:spcAft>
              <a:buNone/>
            </a:pPr>
            <a:r>
              <a:rPr lang="ar-SA" altLang="en-US" sz="1600" b="1" dirty="0">
                <a:solidFill>
                  <a:schemeClr val="tx1"/>
                </a:solidFill>
              </a:rPr>
              <a:t>التفرغ الإداري والتنفيذي</a:t>
            </a:r>
            <a:endParaRPr lang="ar-SA" sz="2800" dirty="0"/>
          </a:p>
        </p:txBody>
      </p:sp>
      <p:sp>
        <p:nvSpPr>
          <p:cNvPr id="14" name="card"/>
          <p:cNvSpPr txBox="1"/>
          <p:nvPr/>
        </p:nvSpPr>
        <p:spPr>
          <a:xfrm>
            <a:off x="548640" y="4389120"/>
            <a:ext cx="2057949" cy="1828800"/>
          </a:xfrm>
          <a:prstGeom prst="roundRect">
            <a:avLst>
              <a:gd name="adj" fmla="val 6000"/>
            </a:avLst>
          </a:prstGeom>
          <a:solidFill>
            <a:schemeClr val="bg1"/>
          </a:solidFill>
          <a:ln w="9525">
            <a:solidFill>
              <a:srgbClr val="E1E6E4"/>
            </a:solidFill>
          </a:ln>
          <a:effectLst>
            <a:outerShdw sx="100000" sy="100000" kx="0" ky="0" algn="bl" rotWithShape="0" blurRad="101600" dist="25400" dir="5400000">
              <a:srgbClr val="0E1A24">
                <a:alpha val="12000"/>
              </a:srgbClr>
            </a:outerShdw>
          </a:effectLst>
        </p:spPr>
        <p:txBody>
          <a:bodyPr wrap="square" lIns="177800" tIns="203200" rIns="203200" bIns="177800" rtlCol="0" anchor="t"/>
          <a:lstStyle/>
          <a:p>
            <a:pPr rtl="1" algn="r" indent="0" marL="0">
              <a:spcAft>
                <a:spcPts val="600"/>
              </a:spcAft>
              <a:buNone/>
            </a:pPr>
            <a:r>
              <a:rPr lang="ar-SA" altLang="en-US" sz="2800" b="1" dirty="0">
                <a:solidFill>
                  <a:srgbClr val="8A6216"/>
                </a:solidFill>
              </a:rPr>
              <a:t>10</a:t>
            </a:r>
            <a:endParaRPr lang="ar-SA" sz="2800" dirty="0"/>
          </a:p>
          <a:p>
            <a:pPr rtl="1" algn="r" indent="0" marL="0">
              <a:spcAft>
                <a:spcPts val="600"/>
              </a:spcAft>
              <a:buNone/>
            </a:pPr>
            <a:r>
              <a:rPr lang="ar-SA" altLang="en-US" sz="1600" b="1" dirty="0">
                <a:solidFill>
                  <a:schemeClr val="tx1"/>
                </a:solidFill>
              </a:rPr>
              <a:t>الاستدامة والاستقلالية المالية</a:t>
            </a:r>
            <a:endParaRPr lang="ar-SA" sz="28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rtl="1" algn="l"/>
            <a:fld id="{F7021451-1387-4CA6-816F-3879F97B5CBC}" type="slidenum">
              <a:rPr b="0" lang="en-US"/>
              <a:t>16</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42" presetClass="entr" presetSubtype="0"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decel="100000" fill="hold"/>
                                        <p:tgtEl>
                                          <p:spTgt spid="5"/>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48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anim calcmode="lin" valueType="num">
                                      <p:cBhvr>
                                        <p:cTn id="21" dur="500" decel="100000" fill="hold"/>
                                        <p:tgtEl>
                                          <p:spTgt spid="6"/>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6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decel="10000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72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decel="100000" fill="hold"/>
                                        <p:tgtEl>
                                          <p:spTgt spid="8"/>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84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decel="1000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96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anim calcmode="lin" valueType="num">
                                      <p:cBhvr>
                                        <p:cTn id="37" dur="500" decel="10000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08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decel="100000" fill="hold"/>
                                        <p:tgtEl>
                                          <p:spTgt spid="11"/>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12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anim calcmode="lin" valueType="num">
                                      <p:cBhvr>
                                        <p:cTn id="45" dur="500" decel="10000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32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anim calcmode="lin" valueType="num">
                                      <p:cBhvr>
                                        <p:cTn id="49" dur="500" decel="10000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44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p:cTn id="53" dur="500" decel="100000" fill="hold"/>
                                        <p:tgtEl>
                                          <p:spTgt spid="1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bg photo" descr="/home/user/-/site/assets/img/dome.jpg">    </p:cNvPr>
          <p:cNvPicPr>
            <a:picLocks noChangeAspect="1"/>
          </p:cNvPicPr>
          <p:nvPr/>
        </p:nvPicPr>
        <p:blipFill>
          <a:blip r:embed="rId1">
            <a:alphaModFix amt="40000"/>
          </a:blip>
          <a:srcRect l="0" r="0" t="0" b="0"/>
          <a:stretch/>
        </p:blipFill>
        <p:spPr>
          <a:xfrm>
            <a:off x="0" y="0"/>
            <a:ext cx="12191695" cy="6858000"/>
          </a:xfrm>
          <a:prstGeom prst="rect">
            <a:avLst/>
          </a:prstGeom>
        </p:spPr>
      </p:pic>
      <p:sp>
        <p:nvSpPr>
          <p:cNvPr id="3" name="bg scrim"/>
          <p:cNvSpPr/>
          <p:nvPr/>
        </p:nvSpPr>
        <p:spPr>
          <a:xfrm>
            <a:off x="0" y="0"/>
            <a:ext cx="12191695" cy="6858000"/>
          </a:xfrm>
          <a:prstGeom prst="rect">
            <a:avLst/>
          </a:prstGeom>
          <a:solidFill>
            <a:schemeClr val="tx2">
              <a:alpha val="75000"/>
            </a:schemeClr>
          </a:solidFill>
          <a:ln/>
        </p:spPr>
      </p:sp>
      <p:pic>
        <p:nvPicPr>
          <p:cNvPr id="4" name="logo" descr="/home/user/-/site/assets/logo.png">    </p:cNvPr>
          <p:cNvPicPr>
            <a:picLocks noChangeAspect="1"/>
          </p:cNvPicPr>
          <p:nvPr/>
        </p:nvPicPr>
        <p:blipFill>
          <a:blip r:embed="rId2"/>
          <a:stretch>
            <a:fillRect/>
          </a:stretch>
        </p:blipFill>
        <p:spPr>
          <a:xfrm>
            <a:off x="5455768" y="1005840"/>
            <a:ext cx="1280160" cy="1252728"/>
          </a:xfrm>
          <a:prstGeom prst="rect">
            <a:avLst/>
          </a:prstGeom>
        </p:spPr>
      </p:pic>
      <p:sp>
        <p:nvSpPr>
          <p:cNvPr id="5" name="Text 1"/>
          <p:cNvSpPr txBox="1"/>
          <p:nvPr/>
        </p:nvSpPr>
        <p:spPr>
          <a:xfrm>
            <a:off x="914400" y="2560320"/>
            <a:ext cx="10362895" cy="1097280"/>
          </a:xfrm>
          <a:prstGeom prst="rect">
            <a:avLst/>
          </a:prstGeom>
          <a:noFill/>
          <a:ln/>
        </p:spPr>
        <p:txBody>
          <a:bodyPr wrap="square" lIns="0" tIns="0" rIns="0" bIns="0" rtlCol="0" anchor="ctr"/>
          <a:lstStyle/>
          <a:p>
            <a:pPr rtl="1" algn="ctr" indent="0" marL="0">
              <a:buNone/>
            </a:pPr>
            <a:r>
              <a:rPr lang="ar-SA" altLang="en-US" sz="4200" b="1" dirty="0">
                <a:solidFill>
                  <a:schemeClr val="bg1"/>
                </a:solidFill>
              </a:rPr>
              <a:t>مرحباً بك مجدداً في رحلة العطاء والتكامل</a:t>
            </a:r>
            <a:endParaRPr lang="ar-SA" sz="4200" dirty="0"/>
          </a:p>
        </p:txBody>
      </p:sp>
      <p:sp>
        <p:nvSpPr>
          <p:cNvPr id="6" name="Text 2"/>
          <p:cNvSpPr txBox="1"/>
          <p:nvPr/>
        </p:nvSpPr>
        <p:spPr>
          <a:xfrm>
            <a:off x="914400" y="3749040"/>
            <a:ext cx="10362895" cy="640080"/>
          </a:xfrm>
          <a:prstGeom prst="rect">
            <a:avLst/>
          </a:prstGeom>
          <a:noFill/>
          <a:ln/>
        </p:spPr>
        <p:txBody>
          <a:bodyPr wrap="square" lIns="0" tIns="0" rIns="0" bIns="0" rtlCol="0" anchor="ctr"/>
          <a:lstStyle/>
          <a:p>
            <a:pPr rtl="1" algn="ctr" indent="0" marL="0">
              <a:buNone/>
            </a:pPr>
            <a:r>
              <a:rPr lang="ar-SA" altLang="en-US" sz="2400" b="1" dirty="0">
                <a:solidFill>
                  <a:schemeClr val="accent4"/>
                </a:solidFill>
              </a:rPr>
              <a:t>يداً بيد لنبني القيم ونحقق التنمية المستدامة</a:t>
            </a:r>
            <a:endParaRPr lang="ar-SA" sz="2400" dirty="0"/>
          </a:p>
        </p:txBody>
      </p:sp>
      <p:sp>
        <p:nvSpPr>
          <p:cNvPr id="7" name="Text 3"/>
          <p:cNvSpPr txBox="1"/>
          <p:nvPr/>
        </p:nvSpPr>
        <p:spPr>
          <a:xfrm>
            <a:off x="914400" y="4572000"/>
            <a:ext cx="10362895" cy="457200"/>
          </a:xfrm>
          <a:prstGeom prst="rect">
            <a:avLst/>
          </a:prstGeom>
          <a:noFill/>
          <a:ln/>
        </p:spPr>
        <p:txBody>
          <a:bodyPr wrap="square" lIns="0" tIns="0" rIns="0" bIns="0" rtlCol="0" anchor="ctr"/>
          <a:lstStyle/>
          <a:p>
            <a:pPr rtl="1" algn="ctr" indent="0" marL="0">
              <a:buNone/>
            </a:pPr>
            <a:r>
              <a:rPr lang="ar-SA" altLang="en-US" sz="1600" dirty="0">
                <a:solidFill>
                  <a:schemeClr val="accent6"/>
                </a:solidFill>
              </a:rPr>
              <a:t>جمعية تكامل لبناء القيم والتنمية  |  إسطنبول – الجمهورية التركية</a:t>
            </a:r>
            <a:endParaRPr lang="ar-SA"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decel="100000" fill="hold"/>
                                        <p:tgtEl>
                                          <p:spTgt spid="4"/>
                                        </p:tgtEl>
                                        <p:attrNameLst>
                                          <p:attrName>ppt_y</p:attrName>
                                        </p:attrNameLst>
                                      </p:cBhvr>
                                      <p:tavLst>
                                        <p:tav tm="0">
                                          <p:val>
                                            <p:strVal val="#ppt_y+.06"/>
                                          </p:val>
                                        </p:tav>
                                        <p:tav tm="100000">
                                          <p:val>
                                            <p:strVal val="#ppt_y"/>
                                          </p:val>
                                        </p:tav>
                                      </p:tavLst>
                                    </p:anim>
                                  </p:childTnLst>
                                </p:cTn>
                              </p:par>
                              <p:par>
                                <p:cTn id="9" presetID="10" presetClass="entr" presetSubtype="0" fill="hold" grpId="0" nodeType="withEffect">
                                  <p:stCondLst>
                                    <p:cond delay="12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par>
                                <p:cTn id="12" presetID="10" presetClass="entr" presetSubtype="0" fill="hold" grpId="0" nodeType="withEffect">
                                  <p:stCondLst>
                                    <p:cond delay="24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theme/theme1.xml><?xml version="1.0" encoding="utf-8"?>
<a:theme xmlns:a="http://schemas.openxmlformats.org/drawingml/2006/main" name="Takamul">
  <a:themeElements>
    <a:clrScheme name="Takamul">
      <a:dk1>
        <a:srgbClr val="14202B"/>
      </a:dk1>
      <a:lt1>
        <a:srgbClr val="FFFFFF"/>
      </a:lt1>
      <a:dk2>
        <a:srgbClr val="0E1A24"/>
      </a:dk2>
      <a:lt2>
        <a:srgbClr val="F3F6F5"/>
      </a:lt2>
      <a:accent1>
        <a:srgbClr val="127A66"/>
      </a:accent1>
      <a:accent2>
        <a:srgbClr val="B8862B"/>
      </a:accent2>
      <a:accent3>
        <a:srgbClr val="4FD1B5"/>
      </a:accent3>
      <a:accent4>
        <a:srgbClr val="E0B04C"/>
      </a:accent4>
      <a:accent5>
        <a:srgbClr val="3E4C59"/>
      </a:accent5>
      <a:accent6>
        <a:srgbClr val="C9D6DF"/>
      </a:accent6>
      <a:hlink>
        <a:srgbClr val="127A66"/>
      </a:hlink>
      <a:folHlink>
        <a:srgbClr val="8A6216"/>
      </a:folHlink>
    </a:clrScheme>
    <a:fontScheme name="Takam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جمعية تكامل لبناء القيم والتنمية</dc:title>
  <dc:subject>PptxGenJS Presentation</dc:subject>
  <dc:creator>جمعية تكامل لبناء القيم والتنمية</dc:creator>
  <cp:lastModifiedBy>جمعية تكامل لبناء القيم والتنمية</cp:lastModifiedBy>
  <cp:revision>1</cp:revision>
  <dcterms:created xsi:type="dcterms:W3CDTF">2026-10-03T14:50:33Z</dcterms:created>
  <dcterms:modified xsi:type="dcterms:W3CDTF">2026-10-03T14:50:33Z</dcterms:modified>
</cp:coreProperties>
</file>